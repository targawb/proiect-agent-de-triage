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1965960"/>
            <a:ext cx="7315200" cy="320040"/>
          </a:xfrm>
          <a:prstGeom prst="rect">
            <a:avLst/>
          </a:prstGeom>
          <a:noFill/>
          <a:ln/>
        </p:spPr>
        <p:txBody>
          <a:bodyPr wrap="square" rtlCol="0" anchor="ctr"/>
          <a:lstStyle/>
          <a:p>
            <a:pPr indent="0" marL="0">
              <a:buNone/>
            </a:pPr>
            <a:r>
              <a:rPr lang="en-US" sz="1200" spc="200" kern="0" dirty="0">
                <a:solidFill>
                  <a:srgbClr val="6B7080"/>
                </a:solidFill>
                <a:latin typeface="Calibri" pitchFamily="34" charset="0"/>
                <a:ea typeface="Calibri" pitchFamily="34" charset="-122"/>
                <a:cs typeface="Calibri" pitchFamily="34" charset="-120"/>
              </a:rPr>
              <a:t>PROPUNERE DE PROIECT</a:t>
            </a:r>
            <a:endParaRPr lang="en-US" sz="1200" dirty="0"/>
          </a:p>
        </p:txBody>
      </p:sp>
      <p:sp>
        <p:nvSpPr>
          <p:cNvPr id="3" name="Text 1"/>
          <p:cNvSpPr/>
          <p:nvPr/>
        </p:nvSpPr>
        <p:spPr>
          <a:xfrm>
            <a:off x="822960" y="2331720"/>
            <a:ext cx="10515600" cy="914400"/>
          </a:xfrm>
          <a:prstGeom prst="rect">
            <a:avLst/>
          </a:prstGeom>
          <a:noFill/>
          <a:ln/>
        </p:spPr>
        <p:txBody>
          <a:bodyPr wrap="square" rtlCol="0" anchor="ctr"/>
          <a:lstStyle/>
          <a:p>
            <a:pPr indent="0" marL="0">
              <a:buNone/>
            </a:pPr>
            <a:r>
              <a:rPr lang="en-US" sz="4000" b="1" dirty="0">
                <a:solidFill>
                  <a:srgbClr val="24262E"/>
                </a:solidFill>
                <a:latin typeface="Cambria" pitchFamily="34" charset="0"/>
                <a:ea typeface="Cambria" pitchFamily="34" charset="-122"/>
                <a:cs typeface="Cambria" pitchFamily="34" charset="-120"/>
              </a:rPr>
              <a:t>Agent de Triaj ITSM</a:t>
            </a:r>
            <a:endParaRPr lang="en-US" sz="4000" dirty="0"/>
          </a:p>
        </p:txBody>
      </p:sp>
      <p:sp>
        <p:nvSpPr>
          <p:cNvPr id="4" name="Text 2"/>
          <p:cNvSpPr/>
          <p:nvPr/>
        </p:nvSpPr>
        <p:spPr>
          <a:xfrm>
            <a:off x="822960" y="3246120"/>
            <a:ext cx="9601200" cy="548640"/>
          </a:xfrm>
          <a:prstGeom prst="rect">
            <a:avLst/>
          </a:prstGeom>
          <a:noFill/>
          <a:ln/>
        </p:spPr>
        <p:txBody>
          <a:bodyPr wrap="square" rtlCol="0" anchor="ctr"/>
          <a:lstStyle/>
          <a:p>
            <a:pPr indent="0" marL="0">
              <a:buNone/>
            </a:pPr>
            <a:r>
              <a:rPr lang="en-US" sz="1500" dirty="0">
                <a:solidFill>
                  <a:srgbClr val="6B7080"/>
                </a:solidFill>
                <a:latin typeface="Calibri" pitchFamily="34" charset="0"/>
                <a:ea typeface="Calibri" pitchFamily="34" charset="-122"/>
                <a:cs typeface="Calibri" pitchFamily="34" charset="-120"/>
              </a:rPr>
              <a:t>Clasificare, prioritizare (P1–P4) și rutare automată — asistate de AI, cu supervizare umană</a:t>
            </a:r>
            <a:endParaRPr lang="en-US" sz="1500" dirty="0"/>
          </a:p>
        </p:txBody>
      </p:sp>
      <p:sp>
        <p:nvSpPr>
          <p:cNvPr id="5" name="Shape 3"/>
          <p:cNvSpPr/>
          <p:nvPr/>
        </p:nvSpPr>
        <p:spPr>
          <a:xfrm>
            <a:off x="822960" y="3977640"/>
            <a:ext cx="3200400" cy="0"/>
          </a:xfrm>
          <a:prstGeom prst="line">
            <a:avLst/>
          </a:prstGeom>
          <a:noFill/>
          <a:ln w="12700">
            <a:solidFill>
              <a:srgbClr val="D9DEEB"/>
            </a:solidFill>
            <a:prstDash val="solid"/>
          </a:ln>
        </p:spPr>
      </p:sp>
      <p:sp>
        <p:nvSpPr>
          <p:cNvPr id="6" name="Text 4"/>
          <p:cNvSpPr/>
          <p:nvPr/>
        </p:nvSpPr>
        <p:spPr>
          <a:xfrm>
            <a:off x="822960" y="6126480"/>
            <a:ext cx="7315200" cy="320040"/>
          </a:xfrm>
          <a:prstGeom prst="rect">
            <a:avLst/>
          </a:prstGeom>
          <a:noFill/>
          <a:ln/>
        </p:spPr>
        <p:txBody>
          <a:bodyPr wrap="square" rtlCol="0" anchor="ctr"/>
          <a:lstStyle/>
          <a:p>
            <a:pPr indent="0" marL="0">
              <a:buNone/>
            </a:pPr>
            <a:r>
              <a:rPr lang="en-US" sz="1200" dirty="0">
                <a:solidFill>
                  <a:srgbClr val="6B7080"/>
                </a:solidFill>
                <a:latin typeface="Calibri" pitchFamily="34" charset="0"/>
                <a:ea typeface="Calibri" pitchFamily="34" charset="-122"/>
                <a:cs typeface="Calibri" pitchFamily="34" charset="-120"/>
              </a:rPr>
              <a:t>Autor: Mario</a:t>
            </a:r>
            <a:endParaRPr lang="en-US" sz="1200" dirty="0"/>
          </a:p>
        </p:txBody>
      </p:sp>
      <p:sp>
        <p:nvSpPr>
          <p:cNvPr id="7" name="Text 5"/>
          <p:cNvSpPr/>
          <p:nvPr/>
        </p:nvSpPr>
        <p:spPr>
          <a:xfrm>
            <a:off x="11521440" y="6446520"/>
            <a:ext cx="457200" cy="320040"/>
          </a:xfrm>
          <a:prstGeom prst="rect">
            <a:avLst/>
          </a:prstGeom>
          <a:noFill/>
          <a:ln/>
        </p:spPr>
        <p:txBody>
          <a:bodyPr wrap="square" rtlCol="0" anchor="ctr"/>
          <a:lstStyle/>
          <a:p>
            <a:pPr algn="r" indent="0" marL="0">
              <a:buNone/>
            </a:pPr>
            <a:r>
              <a:rPr lang="en-US" sz="1000" dirty="0">
                <a:solidFill>
                  <a:srgbClr val="6B7080"/>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502920"/>
            <a:ext cx="10515600" cy="640080"/>
          </a:xfrm>
          <a:prstGeom prst="rect">
            <a:avLst/>
          </a:prstGeom>
          <a:noFill/>
          <a:ln/>
        </p:spPr>
        <p:txBody>
          <a:bodyPr wrap="square" rtlCol="0" anchor="ctr"/>
          <a:lstStyle/>
          <a:p>
            <a:pPr indent="0" marL="0">
              <a:buNone/>
            </a:pPr>
            <a:r>
              <a:rPr lang="en-US" sz="3000" b="1" dirty="0">
                <a:solidFill>
                  <a:srgbClr val="24262E"/>
                </a:solidFill>
                <a:latin typeface="Cambria" pitchFamily="34" charset="0"/>
                <a:ea typeface="Cambria" pitchFamily="34" charset="-122"/>
                <a:cs typeface="Cambria" pitchFamily="34" charset="-120"/>
              </a:rPr>
              <a:t>Problema și scopul proiectului</a:t>
            </a:r>
            <a:endParaRPr lang="en-US" sz="3000" dirty="0"/>
          </a:p>
        </p:txBody>
      </p:sp>
      <p:sp>
        <p:nvSpPr>
          <p:cNvPr id="3" name="Shape 1"/>
          <p:cNvSpPr/>
          <p:nvPr/>
        </p:nvSpPr>
        <p:spPr>
          <a:xfrm>
            <a:off x="548640" y="1417320"/>
            <a:ext cx="5166360" cy="4480560"/>
          </a:xfrm>
          <a:prstGeom prst="roundRect">
            <a:avLst>
              <a:gd name="adj" fmla="val 1633"/>
            </a:avLst>
          </a:prstGeom>
          <a:solidFill>
            <a:srgbClr val="FFFFFF"/>
          </a:solidFill>
          <a:ln w="12700">
            <a:solidFill>
              <a:srgbClr val="E3E7F0"/>
            </a:solidFill>
            <a:prstDash val="solid"/>
          </a:ln>
        </p:spPr>
      </p:sp>
      <p:sp>
        <p:nvSpPr>
          <p:cNvPr id="4" name="Text 2"/>
          <p:cNvSpPr/>
          <p:nvPr/>
        </p:nvSpPr>
        <p:spPr>
          <a:xfrm>
            <a:off x="868680" y="1645920"/>
            <a:ext cx="4572000" cy="365760"/>
          </a:xfrm>
          <a:prstGeom prst="rect">
            <a:avLst/>
          </a:prstGeom>
          <a:noFill/>
          <a:ln/>
        </p:spPr>
        <p:txBody>
          <a:bodyPr wrap="square"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Problema</a:t>
            </a:r>
            <a:endParaRPr lang="en-US" sz="1600" dirty="0"/>
          </a:p>
        </p:txBody>
      </p:sp>
      <p:sp>
        <p:nvSpPr>
          <p:cNvPr id="5" name="Text 3"/>
          <p:cNvSpPr/>
          <p:nvPr/>
        </p:nvSpPr>
        <p:spPr>
          <a:xfrm>
            <a:off x="868680" y="2057400"/>
            <a:ext cx="4572000" cy="822960"/>
          </a:xfrm>
          <a:prstGeom prst="rect">
            <a:avLst/>
          </a:prstGeom>
          <a:noFill/>
          <a:ln/>
        </p:spPr>
        <p:txBody>
          <a:bodyPr wrap="square" rtlCol="0" anchor="t"/>
          <a:lstStyle/>
          <a:p>
            <a:pPr indent="0" marL="0">
              <a:buNone/>
            </a:pPr>
            <a:r>
              <a:rPr lang="en-US" sz="1300" dirty="0">
                <a:solidFill>
                  <a:srgbClr val="24262E"/>
                </a:solidFill>
                <a:latin typeface="Calibri" pitchFamily="34" charset="0"/>
                <a:ea typeface="Calibri" pitchFamily="34" charset="-122"/>
                <a:cs typeface="Calibri" pitchFamily="34" charset="-120"/>
              </a:rPr>
              <a:t>Triajul manual al tichetelor IT (prioritate + rutare) e lent și inconsistent între operatori diferiți; devine blocaj în vârfuri de volum.</a:t>
            </a:r>
            <a:endParaRPr lang="en-US" sz="1300" dirty="0"/>
          </a:p>
        </p:txBody>
      </p:sp>
      <p:sp>
        <p:nvSpPr>
          <p:cNvPr id="6" name="Text 4"/>
          <p:cNvSpPr/>
          <p:nvPr/>
        </p:nvSpPr>
        <p:spPr>
          <a:xfrm>
            <a:off x="868680" y="2926080"/>
            <a:ext cx="4572000" cy="365760"/>
          </a:xfrm>
          <a:prstGeom prst="rect">
            <a:avLst/>
          </a:prstGeom>
          <a:noFill/>
          <a:ln/>
        </p:spPr>
        <p:txBody>
          <a:bodyPr wrap="square"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Obiectiv</a:t>
            </a:r>
            <a:endParaRPr lang="en-US" sz="1600" dirty="0"/>
          </a:p>
        </p:txBody>
      </p:sp>
      <p:sp>
        <p:nvSpPr>
          <p:cNvPr id="7" name="Text 5"/>
          <p:cNvSpPr/>
          <p:nvPr/>
        </p:nvSpPr>
        <p:spPr>
          <a:xfrm>
            <a:off x="868680" y="3337560"/>
            <a:ext cx="4572000" cy="822960"/>
          </a:xfrm>
          <a:prstGeom prst="rect">
            <a:avLst/>
          </a:prstGeom>
          <a:noFill/>
          <a:ln/>
        </p:spPr>
        <p:txBody>
          <a:bodyPr wrap="square" rtlCol="0" anchor="t"/>
          <a:lstStyle/>
          <a:p>
            <a:pPr indent="0" marL="0">
              <a:buNone/>
            </a:pPr>
            <a:r>
              <a:rPr lang="en-US" sz="1300" dirty="0">
                <a:solidFill>
                  <a:srgbClr val="24262E"/>
                </a:solidFill>
                <a:latin typeface="Calibri" pitchFamily="34" charset="0"/>
                <a:ea typeface="Calibri" pitchFamily="34" charset="-122"/>
                <a:cs typeface="Calibri" pitchFamily="34" charset="-120"/>
              </a:rPr>
              <a:t>Agent care propune automat prioritatea, categoria și echipa țintă, cu decizie automată pentru cazuri clare și aprobare umană pentru cazuri riscante.</a:t>
            </a:r>
            <a:endParaRPr lang="en-US" sz="1300" dirty="0"/>
          </a:p>
        </p:txBody>
      </p:sp>
      <p:sp>
        <p:nvSpPr>
          <p:cNvPr id="8" name="Text 6"/>
          <p:cNvSpPr/>
          <p:nvPr/>
        </p:nvSpPr>
        <p:spPr>
          <a:xfrm>
            <a:off x="868680" y="4206240"/>
            <a:ext cx="4572000" cy="365760"/>
          </a:xfrm>
          <a:prstGeom prst="rect">
            <a:avLst/>
          </a:prstGeom>
          <a:noFill/>
          <a:ln/>
        </p:spPr>
        <p:txBody>
          <a:bodyPr wrap="square"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Asumpții</a:t>
            </a:r>
            <a:endParaRPr lang="en-US" sz="1600" dirty="0"/>
          </a:p>
        </p:txBody>
      </p:sp>
      <p:sp>
        <p:nvSpPr>
          <p:cNvPr id="9" name="Text 7"/>
          <p:cNvSpPr/>
          <p:nvPr/>
        </p:nvSpPr>
        <p:spPr>
          <a:xfrm>
            <a:off x="868680" y="4617720"/>
            <a:ext cx="4572000" cy="1097280"/>
          </a:xfrm>
          <a:prstGeom prst="rect">
            <a:avLst/>
          </a:prstGeom>
          <a:noFill/>
          <a:ln/>
        </p:spPr>
        <p:txBody>
          <a:bodyPr wrap="square" rtlCol="0" anchor="t"/>
          <a:lstStyle/>
          <a:p>
            <a:pPr indent="0" marL="0">
              <a:buNone/>
            </a:pPr>
            <a:r>
              <a:rPr lang="en-US" sz="1300" dirty="0">
                <a:solidFill>
                  <a:srgbClr val="24262E"/>
                </a:solidFill>
                <a:latin typeface="Calibri" pitchFamily="34" charset="0"/>
                <a:ea typeface="Calibri" pitchFamily="34" charset="-122"/>
                <a:cs typeface="Calibri" pitchFamily="34" charset="-120"/>
              </a:rPr>
              <a:t>Tichete text liber (RO/EN); istoric suficient pentru retrieval; taxonomie de echipe/categorii fixă și cunoscută.</a:t>
            </a:r>
            <a:endParaRPr lang="en-US" sz="1300" dirty="0"/>
          </a:p>
        </p:txBody>
      </p:sp>
      <p:sp>
        <p:nvSpPr>
          <p:cNvPr id="10" name="Shape 8"/>
          <p:cNvSpPr/>
          <p:nvPr/>
        </p:nvSpPr>
        <p:spPr>
          <a:xfrm>
            <a:off x="5989320" y="1417320"/>
            <a:ext cx="5623560" cy="2148840"/>
          </a:xfrm>
          <a:prstGeom prst="roundRect">
            <a:avLst>
              <a:gd name="adj" fmla="val 3404"/>
            </a:avLst>
          </a:prstGeom>
          <a:solidFill>
            <a:srgbClr val="E9EFFC"/>
          </a:solidFill>
          <a:ln/>
        </p:spPr>
      </p:sp>
      <p:sp>
        <p:nvSpPr>
          <p:cNvPr id="11" name="Text 9"/>
          <p:cNvSpPr/>
          <p:nvPr/>
        </p:nvSpPr>
        <p:spPr>
          <a:xfrm>
            <a:off x="6309360" y="1600200"/>
            <a:ext cx="4572000" cy="320040"/>
          </a:xfrm>
          <a:prstGeom prst="rect">
            <a:avLst/>
          </a:prstGeom>
          <a:noFill/>
          <a:ln/>
        </p:spPr>
        <p:txBody>
          <a:bodyPr wrap="square" rtlCol="0" anchor="ctr"/>
          <a:lstStyle/>
          <a:p>
            <a:pPr indent="0" marL="0">
              <a:buNone/>
            </a:pPr>
            <a:r>
              <a:rPr lang="en-US" sz="1200" b="1" spc="100" kern="0" dirty="0">
                <a:solidFill>
                  <a:srgbClr val="1E2761"/>
                </a:solidFill>
                <a:latin typeface="Calibri" pitchFamily="34" charset="0"/>
                <a:ea typeface="Calibri" pitchFamily="34" charset="-122"/>
                <a:cs typeface="Calibri" pitchFamily="34" charset="-120"/>
              </a:rPr>
              <a:t>ÎN SCOP</a:t>
            </a:r>
            <a:endParaRPr lang="en-US" sz="1200" dirty="0"/>
          </a:p>
        </p:txBody>
      </p:sp>
      <p:sp>
        <p:nvSpPr>
          <p:cNvPr id="12" name="Text 10"/>
          <p:cNvSpPr/>
          <p:nvPr/>
        </p:nvSpPr>
        <p:spPr>
          <a:xfrm>
            <a:off x="6309360" y="2011680"/>
            <a:ext cx="5029200" cy="1417320"/>
          </a:xfrm>
          <a:prstGeom prst="rect">
            <a:avLst/>
          </a:prstGeom>
          <a:noFill/>
          <a:ln/>
        </p:spPr>
        <p:txBody>
          <a:bodyPr wrap="square" rtlCol="0" anchor="t"/>
          <a:lstStyle/>
          <a:p>
            <a:pPr marL="342900" indent="-342900">
              <a:spcAft>
                <a:spcPts val="800"/>
              </a:spcAft>
              <a:buSzPct val="100000"/>
              <a:buChar char="✓"/>
            </a:pPr>
            <a:r>
              <a:rPr lang="en-US" sz="1300" dirty="0">
                <a:solidFill>
                  <a:srgbClr val="24262E"/>
                </a:solidFill>
                <a:latin typeface="Calibri" pitchFamily="34" charset="0"/>
                <a:ea typeface="Calibri" pitchFamily="34" charset="-122"/>
                <a:cs typeface="Calibri" pitchFamily="34" charset="-120"/>
              </a:rPr>
              <a:t>Clasificare P1–P4 + categorie</a:t>
            </a:r>
            <a:endParaRPr lang="en-US" sz="1300" dirty="0"/>
          </a:p>
          <a:p>
            <a:pPr marL="342900" indent="-342900">
              <a:spcAft>
                <a:spcPts val="800"/>
              </a:spcAft>
              <a:buSzPct val="100000"/>
              <a:buChar char="✓"/>
            </a:pPr>
            <a:r>
              <a:rPr lang="en-US" sz="1300" dirty="0">
                <a:solidFill>
                  <a:srgbClr val="24262E"/>
                </a:solidFill>
                <a:latin typeface="Calibri" pitchFamily="34" charset="0"/>
                <a:ea typeface="Calibri" pitchFamily="34" charset="-122"/>
                <a:cs typeface="Calibri" pitchFamily="34" charset="-120"/>
              </a:rPr>
              <a:t>Sugestie echipă țintă + rutare</a:t>
            </a:r>
            <a:endParaRPr lang="en-US" sz="1300" dirty="0"/>
          </a:p>
          <a:p>
            <a:pPr marL="342900" indent="-342900">
              <a:spcAft>
                <a:spcPts val="800"/>
              </a:spcAft>
              <a:buSzPct val="100000"/>
              <a:buChar char="✓"/>
            </a:pPr>
            <a:r>
              <a:rPr lang="en-US" sz="1300" dirty="0">
                <a:solidFill>
                  <a:srgbClr val="24262E"/>
                </a:solidFill>
                <a:latin typeface="Calibri" pitchFamily="34" charset="0"/>
                <a:ea typeface="Calibri" pitchFamily="34" charset="-122"/>
                <a:cs typeface="Calibri" pitchFamily="34" charset="-120"/>
              </a:rPr>
              <a:t>Explicație decizie + surse citate</a:t>
            </a:r>
            <a:endParaRPr lang="en-US" sz="1300" dirty="0"/>
          </a:p>
        </p:txBody>
      </p:sp>
      <p:sp>
        <p:nvSpPr>
          <p:cNvPr id="13" name="Shape 11"/>
          <p:cNvSpPr/>
          <p:nvPr/>
        </p:nvSpPr>
        <p:spPr>
          <a:xfrm>
            <a:off x="5989320" y="3749040"/>
            <a:ext cx="5623560" cy="2148840"/>
          </a:xfrm>
          <a:prstGeom prst="roundRect">
            <a:avLst>
              <a:gd name="adj" fmla="val 3404"/>
            </a:avLst>
          </a:prstGeom>
          <a:solidFill>
            <a:srgbClr val="F3F0EC"/>
          </a:solidFill>
          <a:ln/>
        </p:spPr>
      </p:sp>
      <p:sp>
        <p:nvSpPr>
          <p:cNvPr id="14" name="Text 12"/>
          <p:cNvSpPr/>
          <p:nvPr/>
        </p:nvSpPr>
        <p:spPr>
          <a:xfrm>
            <a:off x="6309360" y="3931920"/>
            <a:ext cx="4572000" cy="320040"/>
          </a:xfrm>
          <a:prstGeom prst="rect">
            <a:avLst/>
          </a:prstGeom>
          <a:noFill/>
          <a:ln/>
        </p:spPr>
        <p:txBody>
          <a:bodyPr wrap="square" rtlCol="0" anchor="ctr"/>
          <a:lstStyle/>
          <a:p>
            <a:pPr indent="0" marL="0">
              <a:buNone/>
            </a:pPr>
            <a:r>
              <a:rPr lang="en-US" sz="1200" b="1" spc="100" kern="0" dirty="0">
                <a:solidFill>
                  <a:srgbClr val="8A6D3B"/>
                </a:solidFill>
                <a:latin typeface="Calibri" pitchFamily="34" charset="0"/>
                <a:ea typeface="Calibri" pitchFamily="34" charset="-122"/>
                <a:cs typeface="Calibri" pitchFamily="34" charset="-120"/>
              </a:rPr>
              <a:t>EXCLUS DIN SCOP</a:t>
            </a:r>
            <a:endParaRPr lang="en-US" sz="1200" dirty="0"/>
          </a:p>
        </p:txBody>
      </p:sp>
      <p:sp>
        <p:nvSpPr>
          <p:cNvPr id="15" name="Text 13"/>
          <p:cNvSpPr/>
          <p:nvPr/>
        </p:nvSpPr>
        <p:spPr>
          <a:xfrm>
            <a:off x="6309360" y="4160520"/>
            <a:ext cx="5029200" cy="1554480"/>
          </a:xfrm>
          <a:prstGeom prst="rect">
            <a:avLst/>
          </a:prstGeom>
          <a:noFill/>
          <a:ln/>
        </p:spPr>
        <p:txBody>
          <a:bodyPr wrap="square" rtlCol="0" anchor="t"/>
          <a:lstStyle/>
          <a:p>
            <a:pPr marL="342900" indent="-342900">
              <a:spcAft>
                <a:spcPts val="800"/>
              </a:spcAft>
              <a:buSzPct val="100000"/>
              <a:buChar char="✗"/>
            </a:pPr>
            <a:r>
              <a:rPr lang="en-US" sz="1300" dirty="0">
                <a:solidFill>
                  <a:srgbClr val="24262E"/>
                </a:solidFill>
                <a:latin typeface="Calibri" pitchFamily="34" charset="0"/>
                <a:ea typeface="Calibri" pitchFamily="34" charset="-122"/>
                <a:cs typeface="Calibri" pitchFamily="34" charset="-120"/>
              </a:rPr>
              <a:t>Diagnosticare tehnică / remediere automată</a:t>
            </a:r>
            <a:endParaRPr lang="en-US" sz="1300" dirty="0"/>
          </a:p>
          <a:p>
            <a:pPr marL="342900" indent="-342900">
              <a:spcAft>
                <a:spcPts val="800"/>
              </a:spcAft>
              <a:buSzPct val="100000"/>
              <a:buChar char="✗"/>
            </a:pPr>
            <a:r>
              <a:rPr lang="en-US" sz="1300" dirty="0">
                <a:solidFill>
                  <a:srgbClr val="24262E"/>
                </a:solidFill>
                <a:latin typeface="Calibri" pitchFamily="34" charset="0"/>
                <a:ea typeface="Calibri" pitchFamily="34" charset="-122"/>
                <a:cs typeface="Calibri" pitchFamily="34" charset="-120"/>
              </a:rPr>
              <a:t>Orchestrare incidente majore, KEDB nou</a:t>
            </a:r>
            <a:endParaRPr lang="en-US" sz="1300" dirty="0"/>
          </a:p>
          <a:p>
            <a:pPr marL="342900" indent="-342900">
              <a:spcAft>
                <a:spcPts val="800"/>
              </a:spcAft>
              <a:buSzPct val="100000"/>
              <a:buChar char="✗"/>
            </a:pPr>
            <a:r>
              <a:rPr lang="en-US" sz="1300" dirty="0">
                <a:solidFill>
                  <a:srgbClr val="24262E"/>
                </a:solidFill>
                <a:latin typeface="Calibri" pitchFamily="34" charset="0"/>
                <a:ea typeface="Calibri" pitchFamily="34" charset="-122"/>
                <a:cs typeface="Calibri" pitchFamily="34" charset="-120"/>
              </a:rPr>
              <a:t>Integrare ITSM live, SLA tracking pe timp</a:t>
            </a:r>
            <a:endParaRPr lang="en-US" sz="1300" dirty="0"/>
          </a:p>
        </p:txBody>
      </p:sp>
      <p:sp>
        <p:nvSpPr>
          <p:cNvPr id="16" name="Text 14"/>
          <p:cNvSpPr/>
          <p:nvPr/>
        </p:nvSpPr>
        <p:spPr>
          <a:xfrm>
            <a:off x="11521440" y="6446520"/>
            <a:ext cx="457200" cy="320040"/>
          </a:xfrm>
          <a:prstGeom prst="rect">
            <a:avLst/>
          </a:prstGeom>
          <a:noFill/>
          <a:ln/>
        </p:spPr>
        <p:txBody>
          <a:bodyPr wrap="square" rtlCol="0" anchor="ctr"/>
          <a:lstStyle/>
          <a:p>
            <a:pPr algn="r" indent="0" marL="0">
              <a:buNone/>
            </a:pPr>
            <a:r>
              <a:rPr lang="en-US" sz="1000" dirty="0">
                <a:solidFill>
                  <a:srgbClr val="6B70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502920"/>
            <a:ext cx="10515600" cy="640080"/>
          </a:xfrm>
          <a:prstGeom prst="rect">
            <a:avLst/>
          </a:prstGeom>
          <a:noFill/>
          <a:ln/>
        </p:spPr>
        <p:txBody>
          <a:bodyPr wrap="square" rtlCol="0" anchor="ctr"/>
          <a:lstStyle/>
          <a:p>
            <a:pPr indent="0" marL="0">
              <a:buNone/>
            </a:pPr>
            <a:r>
              <a:rPr lang="en-US" sz="3000" b="1" dirty="0">
                <a:solidFill>
                  <a:srgbClr val="24262E"/>
                </a:solidFill>
                <a:latin typeface="Cambria" pitchFamily="34" charset="0"/>
                <a:ea typeface="Cambria" pitchFamily="34" charset="-122"/>
                <a:cs typeface="Cambria" pitchFamily="34" charset="-120"/>
              </a:rPr>
              <a:t>Procesul actual (AS-IS) și blocajele lui</a:t>
            </a:r>
            <a:endParaRPr lang="en-US" sz="3000" dirty="0"/>
          </a:p>
        </p:txBody>
      </p:sp>
      <p:sp>
        <p:nvSpPr>
          <p:cNvPr id="3" name="Shape 1"/>
          <p:cNvSpPr/>
          <p:nvPr/>
        </p:nvSpPr>
        <p:spPr>
          <a:xfrm>
            <a:off x="548640" y="1600200"/>
            <a:ext cx="1874520" cy="1234440"/>
          </a:xfrm>
          <a:prstGeom prst="roundRect">
            <a:avLst>
              <a:gd name="adj" fmla="val 5185"/>
            </a:avLst>
          </a:prstGeom>
          <a:solidFill>
            <a:srgbClr val="FFFFFF"/>
          </a:solidFill>
          <a:ln w="12700">
            <a:solidFill>
              <a:srgbClr val="D9DEEB"/>
            </a:solidFill>
            <a:prstDash val="solid"/>
          </a:ln>
        </p:spPr>
      </p:sp>
      <p:sp>
        <p:nvSpPr>
          <p:cNvPr id="4" name="Shape 2"/>
          <p:cNvSpPr/>
          <p:nvPr/>
        </p:nvSpPr>
        <p:spPr>
          <a:xfrm>
            <a:off x="1284732" y="1344168"/>
            <a:ext cx="402336" cy="402336"/>
          </a:xfrm>
          <a:prstGeom prst="ellipse">
            <a:avLst/>
          </a:prstGeom>
          <a:solidFill>
            <a:srgbClr val="1E2761"/>
          </a:solidFill>
          <a:ln/>
        </p:spPr>
      </p:sp>
      <p:sp>
        <p:nvSpPr>
          <p:cNvPr id="5" name="Text 3"/>
          <p:cNvSpPr/>
          <p:nvPr/>
        </p:nvSpPr>
        <p:spPr>
          <a:xfrm>
            <a:off x="1284732" y="134416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621792" y="1764792"/>
            <a:ext cx="1728216" cy="960120"/>
          </a:xfrm>
          <a:prstGeom prst="rect">
            <a:avLst/>
          </a:prstGeom>
          <a:noFill/>
          <a:ln/>
        </p:spPr>
        <p:txBody>
          <a:bodyPr wrap="square" rtlCol="0" anchor="ctr"/>
          <a:lstStyle/>
          <a:p>
            <a:pPr algn="ctr" indent="0" marL="0">
              <a:buNone/>
            </a:pPr>
            <a:r>
              <a:rPr lang="en-US" sz="1150" dirty="0">
                <a:solidFill>
                  <a:srgbClr val="24262E"/>
                </a:solidFill>
                <a:latin typeface="Calibri" pitchFamily="34" charset="0"/>
                <a:ea typeface="Calibri" pitchFamily="34" charset="-122"/>
                <a:cs typeface="Calibri" pitchFamily="34" charset="-120"/>
              </a:rPr>
              <a:t>Tichet deschis</a:t>
            </a:r>
            <a:endParaRPr lang="en-US" sz="1150" dirty="0"/>
          </a:p>
          <a:p>
            <a:pPr algn="ctr" indent="0" marL="0">
              <a:buNone/>
            </a:pPr>
            <a:r>
              <a:rPr lang="en-US" sz="1150" dirty="0">
                <a:solidFill>
                  <a:srgbClr val="24262E"/>
                </a:solidFill>
                <a:latin typeface="Calibri" pitchFamily="34" charset="0"/>
                <a:ea typeface="Calibri" pitchFamily="34" charset="-122"/>
                <a:cs typeface="Calibri" pitchFamily="34" charset="-120"/>
              </a:rPr>
              <a:t>(text liber)</a:t>
            </a:r>
            <a:endParaRPr lang="en-US" sz="1150" dirty="0"/>
          </a:p>
        </p:txBody>
      </p:sp>
      <p:sp>
        <p:nvSpPr>
          <p:cNvPr id="7" name="Shape 5"/>
          <p:cNvSpPr/>
          <p:nvPr/>
        </p:nvSpPr>
        <p:spPr>
          <a:xfrm>
            <a:off x="2459736" y="2217420"/>
            <a:ext cx="182880" cy="0"/>
          </a:xfrm>
          <a:prstGeom prst="line">
            <a:avLst/>
          </a:prstGeom>
          <a:noFill/>
          <a:ln w="25400">
            <a:solidFill>
              <a:srgbClr val="3E5C9A"/>
            </a:solidFill>
            <a:prstDash val="solid"/>
            <a:tailEnd type="triangle"/>
          </a:ln>
        </p:spPr>
      </p:sp>
      <p:sp>
        <p:nvSpPr>
          <p:cNvPr id="8" name="Shape 6"/>
          <p:cNvSpPr/>
          <p:nvPr/>
        </p:nvSpPr>
        <p:spPr>
          <a:xfrm>
            <a:off x="2679192" y="1600200"/>
            <a:ext cx="1874520" cy="1234440"/>
          </a:xfrm>
          <a:prstGeom prst="roundRect">
            <a:avLst>
              <a:gd name="adj" fmla="val 5185"/>
            </a:avLst>
          </a:prstGeom>
          <a:solidFill>
            <a:srgbClr val="FFFFFF"/>
          </a:solidFill>
          <a:ln w="12700">
            <a:solidFill>
              <a:srgbClr val="D9DEEB"/>
            </a:solidFill>
            <a:prstDash val="solid"/>
          </a:ln>
        </p:spPr>
      </p:sp>
      <p:sp>
        <p:nvSpPr>
          <p:cNvPr id="9" name="Shape 7"/>
          <p:cNvSpPr/>
          <p:nvPr/>
        </p:nvSpPr>
        <p:spPr>
          <a:xfrm>
            <a:off x="3415284" y="1344168"/>
            <a:ext cx="402336" cy="402336"/>
          </a:xfrm>
          <a:prstGeom prst="ellipse">
            <a:avLst/>
          </a:prstGeom>
          <a:solidFill>
            <a:srgbClr val="1E2761"/>
          </a:solidFill>
          <a:ln/>
        </p:spPr>
      </p:sp>
      <p:sp>
        <p:nvSpPr>
          <p:cNvPr id="10" name="Text 8"/>
          <p:cNvSpPr/>
          <p:nvPr/>
        </p:nvSpPr>
        <p:spPr>
          <a:xfrm>
            <a:off x="3415284" y="134416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2752344" y="1764792"/>
            <a:ext cx="1728216" cy="960120"/>
          </a:xfrm>
          <a:prstGeom prst="rect">
            <a:avLst/>
          </a:prstGeom>
          <a:noFill/>
          <a:ln/>
        </p:spPr>
        <p:txBody>
          <a:bodyPr wrap="square" rtlCol="0" anchor="ctr"/>
          <a:lstStyle/>
          <a:p>
            <a:pPr algn="ctr" indent="0" marL="0">
              <a:buNone/>
            </a:pPr>
            <a:r>
              <a:rPr lang="en-US" sz="1150" dirty="0">
                <a:solidFill>
                  <a:srgbClr val="24262E"/>
                </a:solidFill>
                <a:latin typeface="Calibri" pitchFamily="34" charset="0"/>
                <a:ea typeface="Calibri" pitchFamily="34" charset="-122"/>
                <a:cs typeface="Calibri" pitchFamily="34" charset="-120"/>
              </a:rPr>
              <a:t>Dispecer citește</a:t>
            </a:r>
            <a:endParaRPr lang="en-US" sz="1150" dirty="0"/>
          </a:p>
          <a:p>
            <a:pPr algn="ctr" indent="0" marL="0">
              <a:buNone/>
            </a:pPr>
            <a:r>
              <a:rPr lang="en-US" sz="1150" dirty="0">
                <a:solidFill>
                  <a:srgbClr val="24262E"/>
                </a:solidFill>
                <a:latin typeface="Calibri" pitchFamily="34" charset="0"/>
                <a:ea typeface="Calibri" pitchFamily="34" charset="-122"/>
                <a:cs typeface="Calibri" pitchFamily="34" charset="-120"/>
              </a:rPr>
              <a:t>și evaluează</a:t>
            </a:r>
            <a:endParaRPr lang="en-US" sz="1150" dirty="0"/>
          </a:p>
        </p:txBody>
      </p:sp>
      <p:sp>
        <p:nvSpPr>
          <p:cNvPr id="12" name="Shape 10"/>
          <p:cNvSpPr/>
          <p:nvPr/>
        </p:nvSpPr>
        <p:spPr>
          <a:xfrm>
            <a:off x="4590288" y="2217420"/>
            <a:ext cx="182880" cy="0"/>
          </a:xfrm>
          <a:prstGeom prst="line">
            <a:avLst/>
          </a:prstGeom>
          <a:noFill/>
          <a:ln w="25400">
            <a:solidFill>
              <a:srgbClr val="3E5C9A"/>
            </a:solidFill>
            <a:prstDash val="solid"/>
            <a:tailEnd type="triangle"/>
          </a:ln>
        </p:spPr>
      </p:sp>
      <p:sp>
        <p:nvSpPr>
          <p:cNvPr id="13" name="Shape 11"/>
          <p:cNvSpPr/>
          <p:nvPr/>
        </p:nvSpPr>
        <p:spPr>
          <a:xfrm>
            <a:off x="4809744" y="1600200"/>
            <a:ext cx="1874520" cy="1234440"/>
          </a:xfrm>
          <a:prstGeom prst="roundRect">
            <a:avLst>
              <a:gd name="adj" fmla="val 5185"/>
            </a:avLst>
          </a:prstGeom>
          <a:solidFill>
            <a:srgbClr val="FFFFFF"/>
          </a:solidFill>
          <a:ln w="12700">
            <a:solidFill>
              <a:srgbClr val="D9DEEB"/>
            </a:solidFill>
            <a:prstDash val="solid"/>
          </a:ln>
        </p:spPr>
      </p:sp>
      <p:sp>
        <p:nvSpPr>
          <p:cNvPr id="14" name="Shape 12"/>
          <p:cNvSpPr/>
          <p:nvPr/>
        </p:nvSpPr>
        <p:spPr>
          <a:xfrm>
            <a:off x="5545836" y="1344168"/>
            <a:ext cx="402336" cy="402336"/>
          </a:xfrm>
          <a:prstGeom prst="ellipse">
            <a:avLst/>
          </a:prstGeom>
          <a:solidFill>
            <a:srgbClr val="1E2761"/>
          </a:solidFill>
          <a:ln/>
        </p:spPr>
      </p:sp>
      <p:sp>
        <p:nvSpPr>
          <p:cNvPr id="15" name="Text 13"/>
          <p:cNvSpPr/>
          <p:nvPr/>
        </p:nvSpPr>
        <p:spPr>
          <a:xfrm>
            <a:off x="5545836" y="134416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4882896" y="1764792"/>
            <a:ext cx="1728216" cy="960120"/>
          </a:xfrm>
          <a:prstGeom prst="rect">
            <a:avLst/>
          </a:prstGeom>
          <a:noFill/>
          <a:ln/>
        </p:spPr>
        <p:txBody>
          <a:bodyPr wrap="square" rtlCol="0" anchor="ctr"/>
          <a:lstStyle/>
          <a:p>
            <a:pPr algn="ctr" indent="0" marL="0">
              <a:buNone/>
            </a:pPr>
            <a:r>
              <a:rPr lang="en-US" sz="1150" dirty="0">
                <a:solidFill>
                  <a:srgbClr val="24262E"/>
                </a:solidFill>
                <a:latin typeface="Calibri" pitchFamily="34" charset="0"/>
                <a:ea typeface="Calibri" pitchFamily="34" charset="-122"/>
                <a:cs typeface="Calibri" pitchFamily="34" charset="-120"/>
              </a:rPr>
              <a:t>Caută manual</a:t>
            </a:r>
            <a:endParaRPr lang="en-US" sz="1150" dirty="0"/>
          </a:p>
          <a:p>
            <a:pPr algn="ctr" indent="0" marL="0">
              <a:buNone/>
            </a:pPr>
            <a:r>
              <a:rPr lang="en-US" sz="1150" dirty="0">
                <a:solidFill>
                  <a:srgbClr val="24262E"/>
                </a:solidFill>
                <a:latin typeface="Calibri" pitchFamily="34" charset="0"/>
                <a:ea typeface="Calibri" pitchFamily="34" charset="-122"/>
                <a:cs typeface="Calibri" pitchFamily="34" charset="-120"/>
              </a:rPr>
              <a:t>precedent similar</a:t>
            </a:r>
            <a:endParaRPr lang="en-US" sz="1150" dirty="0"/>
          </a:p>
        </p:txBody>
      </p:sp>
      <p:sp>
        <p:nvSpPr>
          <p:cNvPr id="17" name="Shape 15"/>
          <p:cNvSpPr/>
          <p:nvPr/>
        </p:nvSpPr>
        <p:spPr>
          <a:xfrm>
            <a:off x="6720840" y="2217420"/>
            <a:ext cx="182880" cy="0"/>
          </a:xfrm>
          <a:prstGeom prst="line">
            <a:avLst/>
          </a:prstGeom>
          <a:noFill/>
          <a:ln w="25400">
            <a:solidFill>
              <a:srgbClr val="3E5C9A"/>
            </a:solidFill>
            <a:prstDash val="solid"/>
            <a:tailEnd type="triangle"/>
          </a:ln>
        </p:spPr>
      </p:sp>
      <p:sp>
        <p:nvSpPr>
          <p:cNvPr id="18" name="Shape 16"/>
          <p:cNvSpPr/>
          <p:nvPr/>
        </p:nvSpPr>
        <p:spPr>
          <a:xfrm>
            <a:off x="6940296" y="1600200"/>
            <a:ext cx="1874520" cy="1234440"/>
          </a:xfrm>
          <a:prstGeom prst="roundRect">
            <a:avLst>
              <a:gd name="adj" fmla="val 5185"/>
            </a:avLst>
          </a:prstGeom>
          <a:solidFill>
            <a:srgbClr val="FFFFFF"/>
          </a:solidFill>
          <a:ln w="12700">
            <a:solidFill>
              <a:srgbClr val="D9DEEB"/>
            </a:solidFill>
            <a:prstDash val="solid"/>
          </a:ln>
        </p:spPr>
      </p:sp>
      <p:sp>
        <p:nvSpPr>
          <p:cNvPr id="19" name="Shape 17"/>
          <p:cNvSpPr/>
          <p:nvPr/>
        </p:nvSpPr>
        <p:spPr>
          <a:xfrm>
            <a:off x="7676388" y="1344168"/>
            <a:ext cx="402336" cy="402336"/>
          </a:xfrm>
          <a:prstGeom prst="ellipse">
            <a:avLst/>
          </a:prstGeom>
          <a:solidFill>
            <a:srgbClr val="1E2761"/>
          </a:solidFill>
          <a:ln/>
        </p:spPr>
      </p:sp>
      <p:sp>
        <p:nvSpPr>
          <p:cNvPr id="20" name="Text 18"/>
          <p:cNvSpPr/>
          <p:nvPr/>
        </p:nvSpPr>
        <p:spPr>
          <a:xfrm>
            <a:off x="7676388" y="134416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p:nvPr/>
        </p:nvSpPr>
        <p:spPr>
          <a:xfrm>
            <a:off x="7013448" y="1764792"/>
            <a:ext cx="1728216" cy="960120"/>
          </a:xfrm>
          <a:prstGeom prst="rect">
            <a:avLst/>
          </a:prstGeom>
          <a:noFill/>
          <a:ln/>
        </p:spPr>
        <p:txBody>
          <a:bodyPr wrap="square" rtlCol="0" anchor="ctr"/>
          <a:lstStyle/>
          <a:p>
            <a:pPr algn="ctr" indent="0" marL="0">
              <a:buNone/>
            </a:pPr>
            <a:r>
              <a:rPr lang="en-US" sz="1150" dirty="0">
                <a:solidFill>
                  <a:srgbClr val="24262E"/>
                </a:solidFill>
                <a:latin typeface="Calibri" pitchFamily="34" charset="0"/>
                <a:ea typeface="Calibri" pitchFamily="34" charset="-122"/>
                <a:cs typeface="Calibri" pitchFamily="34" charset="-120"/>
              </a:rPr>
              <a:t>Decide prioritate</a:t>
            </a:r>
            <a:endParaRPr lang="en-US" sz="1150" dirty="0"/>
          </a:p>
          <a:p>
            <a:pPr algn="ctr" indent="0" marL="0">
              <a:buNone/>
            </a:pPr>
            <a:r>
              <a:rPr lang="en-US" sz="1150" dirty="0">
                <a:solidFill>
                  <a:srgbClr val="24262E"/>
                </a:solidFill>
                <a:latin typeface="Calibri" pitchFamily="34" charset="0"/>
                <a:ea typeface="Calibri" pitchFamily="34" charset="-122"/>
                <a:cs typeface="Calibri" pitchFamily="34" charset="-120"/>
              </a:rPr>
              <a:t>și echipă</a:t>
            </a:r>
            <a:endParaRPr lang="en-US" sz="1150" dirty="0"/>
          </a:p>
        </p:txBody>
      </p:sp>
      <p:sp>
        <p:nvSpPr>
          <p:cNvPr id="22" name="Shape 20"/>
          <p:cNvSpPr/>
          <p:nvPr/>
        </p:nvSpPr>
        <p:spPr>
          <a:xfrm>
            <a:off x="8851392" y="2217420"/>
            <a:ext cx="182880" cy="0"/>
          </a:xfrm>
          <a:prstGeom prst="line">
            <a:avLst/>
          </a:prstGeom>
          <a:noFill/>
          <a:ln w="25400">
            <a:solidFill>
              <a:srgbClr val="3E5C9A"/>
            </a:solidFill>
            <a:prstDash val="solid"/>
            <a:tailEnd type="triangle"/>
          </a:ln>
        </p:spPr>
      </p:sp>
      <p:sp>
        <p:nvSpPr>
          <p:cNvPr id="23" name="Shape 21"/>
          <p:cNvSpPr/>
          <p:nvPr/>
        </p:nvSpPr>
        <p:spPr>
          <a:xfrm>
            <a:off x="9070848" y="1600200"/>
            <a:ext cx="1874520" cy="1234440"/>
          </a:xfrm>
          <a:prstGeom prst="roundRect">
            <a:avLst>
              <a:gd name="adj" fmla="val 5185"/>
            </a:avLst>
          </a:prstGeom>
          <a:solidFill>
            <a:srgbClr val="FFFFFF"/>
          </a:solidFill>
          <a:ln w="12700">
            <a:solidFill>
              <a:srgbClr val="D9DEEB"/>
            </a:solidFill>
            <a:prstDash val="solid"/>
          </a:ln>
        </p:spPr>
      </p:sp>
      <p:sp>
        <p:nvSpPr>
          <p:cNvPr id="24" name="Shape 22"/>
          <p:cNvSpPr/>
          <p:nvPr/>
        </p:nvSpPr>
        <p:spPr>
          <a:xfrm>
            <a:off x="9806940" y="1344168"/>
            <a:ext cx="402336" cy="402336"/>
          </a:xfrm>
          <a:prstGeom prst="ellipse">
            <a:avLst/>
          </a:prstGeom>
          <a:solidFill>
            <a:srgbClr val="1E2761"/>
          </a:solidFill>
          <a:ln/>
        </p:spPr>
      </p:sp>
      <p:sp>
        <p:nvSpPr>
          <p:cNvPr id="25" name="Text 23"/>
          <p:cNvSpPr/>
          <p:nvPr/>
        </p:nvSpPr>
        <p:spPr>
          <a:xfrm>
            <a:off x="9806940" y="134416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4"/>
          <p:cNvSpPr/>
          <p:nvPr/>
        </p:nvSpPr>
        <p:spPr>
          <a:xfrm>
            <a:off x="9144000" y="1764792"/>
            <a:ext cx="1728216" cy="960120"/>
          </a:xfrm>
          <a:prstGeom prst="rect">
            <a:avLst/>
          </a:prstGeom>
          <a:noFill/>
          <a:ln/>
        </p:spPr>
        <p:txBody>
          <a:bodyPr wrap="square" rtlCol="0" anchor="ctr"/>
          <a:lstStyle/>
          <a:p>
            <a:pPr algn="ctr" indent="0" marL="0">
              <a:buNone/>
            </a:pPr>
            <a:r>
              <a:rPr lang="en-US" sz="1150" dirty="0">
                <a:solidFill>
                  <a:srgbClr val="24262E"/>
                </a:solidFill>
                <a:latin typeface="Calibri" pitchFamily="34" charset="0"/>
                <a:ea typeface="Calibri" pitchFamily="34" charset="-122"/>
                <a:cs typeface="Calibri" pitchFamily="34" charset="-120"/>
              </a:rPr>
              <a:t>Rutare</a:t>
            </a:r>
            <a:endParaRPr lang="en-US" sz="1150" dirty="0"/>
          </a:p>
          <a:p>
            <a:pPr algn="ctr" indent="0" marL="0">
              <a:buNone/>
            </a:pPr>
            <a:r>
              <a:rPr lang="en-US" sz="1150" dirty="0">
                <a:solidFill>
                  <a:srgbClr val="24262E"/>
                </a:solidFill>
                <a:latin typeface="Calibri" pitchFamily="34" charset="0"/>
                <a:ea typeface="Calibri" pitchFamily="34" charset="-122"/>
                <a:cs typeface="Calibri" pitchFamily="34" charset="-120"/>
              </a:rPr>
              <a:t>(uneori greșită)</a:t>
            </a:r>
            <a:endParaRPr lang="en-US" sz="1150" dirty="0"/>
          </a:p>
        </p:txBody>
      </p:sp>
      <p:sp>
        <p:nvSpPr>
          <p:cNvPr id="27" name="Text 25"/>
          <p:cNvSpPr/>
          <p:nvPr/>
        </p:nvSpPr>
        <p:spPr>
          <a:xfrm>
            <a:off x="548640" y="3246120"/>
            <a:ext cx="5486400" cy="365760"/>
          </a:xfrm>
          <a:prstGeom prst="rect">
            <a:avLst/>
          </a:prstGeom>
          <a:noFill/>
          <a:ln/>
        </p:spPr>
        <p:txBody>
          <a:bodyPr wrap="square"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Blocaje identificate</a:t>
            </a:r>
            <a:endParaRPr lang="en-US" sz="1600" dirty="0"/>
          </a:p>
        </p:txBody>
      </p:sp>
      <p:sp>
        <p:nvSpPr>
          <p:cNvPr id="28" name="Shape 26"/>
          <p:cNvSpPr/>
          <p:nvPr/>
        </p:nvSpPr>
        <p:spPr>
          <a:xfrm>
            <a:off x="548640" y="3703320"/>
            <a:ext cx="2697480" cy="2148840"/>
          </a:xfrm>
          <a:prstGeom prst="roundRect">
            <a:avLst>
              <a:gd name="adj" fmla="val 2979"/>
            </a:avLst>
          </a:prstGeom>
          <a:solidFill>
            <a:srgbClr val="FFFFFF"/>
          </a:solidFill>
          <a:ln w="12700">
            <a:solidFill>
              <a:srgbClr val="D9DEEB"/>
            </a:solidFill>
            <a:prstDash val="solid"/>
          </a:ln>
        </p:spPr>
      </p:sp>
      <p:sp>
        <p:nvSpPr>
          <p:cNvPr id="29" name="Text 27"/>
          <p:cNvSpPr/>
          <p:nvPr/>
        </p:nvSpPr>
        <p:spPr>
          <a:xfrm>
            <a:off x="713232" y="3886200"/>
            <a:ext cx="2368296" cy="457200"/>
          </a:xfrm>
          <a:prstGeom prst="rect">
            <a:avLst/>
          </a:prstGeom>
          <a:noFill/>
          <a:ln/>
        </p:spPr>
        <p:txBody>
          <a:bodyPr wrap="square" rtlCol="0" anchor="ctr"/>
          <a:lstStyle/>
          <a:p>
            <a:pPr indent="0" marL="0">
              <a:buNone/>
            </a:pPr>
            <a:r>
              <a:rPr lang="en-US" sz="1350" b="1" dirty="0">
                <a:solidFill>
                  <a:srgbClr val="3E5C9A"/>
                </a:solidFill>
                <a:latin typeface="Cambria" pitchFamily="34" charset="0"/>
                <a:ea typeface="Cambria" pitchFamily="34" charset="-122"/>
                <a:cs typeface="Cambria" pitchFamily="34" charset="-120"/>
              </a:rPr>
              <a:t>Inconsistență</a:t>
            </a:r>
            <a:endParaRPr lang="en-US" sz="1350" dirty="0"/>
          </a:p>
        </p:txBody>
      </p:sp>
      <p:sp>
        <p:nvSpPr>
          <p:cNvPr id="30" name="Text 28"/>
          <p:cNvSpPr/>
          <p:nvPr/>
        </p:nvSpPr>
        <p:spPr>
          <a:xfrm>
            <a:off x="713232" y="4389120"/>
            <a:ext cx="2368296" cy="1280160"/>
          </a:xfrm>
          <a:prstGeom prst="rect">
            <a:avLst/>
          </a:prstGeom>
          <a:noFill/>
          <a:ln/>
        </p:spPr>
        <p:txBody>
          <a:bodyPr wrap="square" rtlCol="0" anchor="t"/>
          <a:lstStyle/>
          <a:p>
            <a:pPr indent="0" marL="0">
              <a:buNone/>
            </a:pPr>
            <a:r>
              <a:rPr lang="en-US" sz="1150" dirty="0">
                <a:solidFill>
                  <a:srgbClr val="24262E"/>
                </a:solidFill>
                <a:latin typeface="Calibri" pitchFamily="34" charset="0"/>
                <a:ea typeface="Calibri" pitchFamily="34" charset="-122"/>
                <a:cs typeface="Calibri" pitchFamily="34" charset="-120"/>
              </a:rPr>
              <a:t>Doi dispeceri pot clasifica diferit același tip de tichet.</a:t>
            </a:r>
            <a:endParaRPr lang="en-US" sz="1150" dirty="0"/>
          </a:p>
        </p:txBody>
      </p:sp>
      <p:sp>
        <p:nvSpPr>
          <p:cNvPr id="31" name="Shape 29"/>
          <p:cNvSpPr/>
          <p:nvPr/>
        </p:nvSpPr>
        <p:spPr>
          <a:xfrm>
            <a:off x="3429000" y="3703320"/>
            <a:ext cx="2697480" cy="2148840"/>
          </a:xfrm>
          <a:prstGeom prst="roundRect">
            <a:avLst>
              <a:gd name="adj" fmla="val 2979"/>
            </a:avLst>
          </a:prstGeom>
          <a:solidFill>
            <a:srgbClr val="FFFFFF"/>
          </a:solidFill>
          <a:ln w="12700">
            <a:solidFill>
              <a:srgbClr val="D9DEEB"/>
            </a:solidFill>
            <a:prstDash val="solid"/>
          </a:ln>
        </p:spPr>
      </p:sp>
      <p:sp>
        <p:nvSpPr>
          <p:cNvPr id="32" name="Text 30"/>
          <p:cNvSpPr/>
          <p:nvPr/>
        </p:nvSpPr>
        <p:spPr>
          <a:xfrm>
            <a:off x="3593592" y="3886200"/>
            <a:ext cx="2368296" cy="457200"/>
          </a:xfrm>
          <a:prstGeom prst="rect">
            <a:avLst/>
          </a:prstGeom>
          <a:noFill/>
          <a:ln/>
        </p:spPr>
        <p:txBody>
          <a:bodyPr wrap="square" rtlCol="0" anchor="ctr"/>
          <a:lstStyle/>
          <a:p>
            <a:pPr indent="0" marL="0">
              <a:buNone/>
            </a:pPr>
            <a:r>
              <a:rPr lang="en-US" sz="1350" b="1" dirty="0">
                <a:solidFill>
                  <a:srgbClr val="3E5C9A"/>
                </a:solidFill>
                <a:latin typeface="Cambria" pitchFamily="34" charset="0"/>
                <a:ea typeface="Cambria" pitchFamily="34" charset="-122"/>
                <a:cs typeface="Cambria" pitchFamily="34" charset="-120"/>
              </a:rPr>
              <a:t>Timp de răspuns</a:t>
            </a:r>
            <a:endParaRPr lang="en-US" sz="1350" dirty="0"/>
          </a:p>
        </p:txBody>
      </p:sp>
      <p:sp>
        <p:nvSpPr>
          <p:cNvPr id="33" name="Text 31"/>
          <p:cNvSpPr/>
          <p:nvPr/>
        </p:nvSpPr>
        <p:spPr>
          <a:xfrm>
            <a:off x="3593592" y="4389120"/>
            <a:ext cx="2368296" cy="1280160"/>
          </a:xfrm>
          <a:prstGeom prst="rect">
            <a:avLst/>
          </a:prstGeom>
          <a:noFill/>
          <a:ln/>
        </p:spPr>
        <p:txBody>
          <a:bodyPr wrap="square" rtlCol="0" anchor="t"/>
          <a:lstStyle/>
          <a:p>
            <a:pPr indent="0" marL="0">
              <a:buNone/>
            </a:pPr>
            <a:r>
              <a:rPr lang="en-US" sz="1150" dirty="0">
                <a:solidFill>
                  <a:srgbClr val="24262E"/>
                </a:solidFill>
                <a:latin typeface="Calibri" pitchFamily="34" charset="0"/>
                <a:ea typeface="Calibri" pitchFamily="34" charset="-122"/>
                <a:cs typeface="Calibri" pitchFamily="34" charset="-120"/>
              </a:rPr>
              <a:t>În vârfuri de volum, tichetele stau în coadă înainte de triaj.</a:t>
            </a:r>
            <a:endParaRPr lang="en-US" sz="1150" dirty="0"/>
          </a:p>
        </p:txBody>
      </p:sp>
      <p:sp>
        <p:nvSpPr>
          <p:cNvPr id="34" name="Shape 32"/>
          <p:cNvSpPr/>
          <p:nvPr/>
        </p:nvSpPr>
        <p:spPr>
          <a:xfrm>
            <a:off x="6309360" y="3703320"/>
            <a:ext cx="2697480" cy="2148840"/>
          </a:xfrm>
          <a:prstGeom prst="roundRect">
            <a:avLst>
              <a:gd name="adj" fmla="val 2979"/>
            </a:avLst>
          </a:prstGeom>
          <a:solidFill>
            <a:srgbClr val="FFFFFF"/>
          </a:solidFill>
          <a:ln w="12700">
            <a:solidFill>
              <a:srgbClr val="D9DEEB"/>
            </a:solidFill>
            <a:prstDash val="solid"/>
          </a:ln>
        </p:spPr>
      </p:sp>
      <p:sp>
        <p:nvSpPr>
          <p:cNvPr id="35" name="Text 33"/>
          <p:cNvSpPr/>
          <p:nvPr/>
        </p:nvSpPr>
        <p:spPr>
          <a:xfrm>
            <a:off x="6473952" y="3886200"/>
            <a:ext cx="2368296" cy="457200"/>
          </a:xfrm>
          <a:prstGeom prst="rect">
            <a:avLst/>
          </a:prstGeom>
          <a:noFill/>
          <a:ln/>
        </p:spPr>
        <p:txBody>
          <a:bodyPr wrap="square" rtlCol="0" anchor="ctr"/>
          <a:lstStyle/>
          <a:p>
            <a:pPr indent="0" marL="0">
              <a:buNone/>
            </a:pPr>
            <a:r>
              <a:rPr lang="en-US" sz="1350" b="1" dirty="0">
                <a:solidFill>
                  <a:srgbClr val="3E5C9A"/>
                </a:solidFill>
                <a:latin typeface="Cambria" pitchFamily="34" charset="0"/>
                <a:ea typeface="Cambria" pitchFamily="34" charset="-122"/>
                <a:cs typeface="Cambria" pitchFamily="34" charset="-120"/>
              </a:rPr>
              <a:t>Cunoaștere tacită</a:t>
            </a:r>
            <a:endParaRPr lang="en-US" sz="1350" dirty="0"/>
          </a:p>
        </p:txBody>
      </p:sp>
      <p:sp>
        <p:nvSpPr>
          <p:cNvPr id="36" name="Text 34"/>
          <p:cNvSpPr/>
          <p:nvPr/>
        </p:nvSpPr>
        <p:spPr>
          <a:xfrm>
            <a:off x="6473952" y="4389120"/>
            <a:ext cx="2368296" cy="1280160"/>
          </a:xfrm>
          <a:prstGeom prst="rect">
            <a:avLst/>
          </a:prstGeom>
          <a:noFill/>
          <a:ln/>
        </p:spPr>
        <p:txBody>
          <a:bodyPr wrap="square" rtlCol="0" anchor="t"/>
          <a:lstStyle/>
          <a:p>
            <a:pPr indent="0" marL="0">
              <a:buNone/>
            </a:pPr>
            <a:r>
              <a:rPr lang="en-US" sz="1150" dirty="0">
                <a:solidFill>
                  <a:srgbClr val="24262E"/>
                </a:solidFill>
                <a:latin typeface="Calibri" pitchFamily="34" charset="0"/>
                <a:ea typeface="Calibri" pitchFamily="34" charset="-122"/>
                <a:cs typeface="Calibri" pitchFamily="34" charset="-120"/>
              </a:rPr>
              <a:t>Recunoașterea tiparelor stă doar în capul dispecerilor experimentați.</a:t>
            </a:r>
            <a:endParaRPr lang="en-US" sz="1150" dirty="0"/>
          </a:p>
        </p:txBody>
      </p:sp>
      <p:sp>
        <p:nvSpPr>
          <p:cNvPr id="37" name="Shape 35"/>
          <p:cNvSpPr/>
          <p:nvPr/>
        </p:nvSpPr>
        <p:spPr>
          <a:xfrm>
            <a:off x="9189720" y="3703320"/>
            <a:ext cx="2697480" cy="2148840"/>
          </a:xfrm>
          <a:prstGeom prst="roundRect">
            <a:avLst>
              <a:gd name="adj" fmla="val 2979"/>
            </a:avLst>
          </a:prstGeom>
          <a:solidFill>
            <a:srgbClr val="FFFFFF"/>
          </a:solidFill>
          <a:ln w="12700">
            <a:solidFill>
              <a:srgbClr val="D9DEEB"/>
            </a:solidFill>
            <a:prstDash val="solid"/>
          </a:ln>
        </p:spPr>
      </p:sp>
      <p:sp>
        <p:nvSpPr>
          <p:cNvPr id="38" name="Text 36"/>
          <p:cNvSpPr/>
          <p:nvPr/>
        </p:nvSpPr>
        <p:spPr>
          <a:xfrm>
            <a:off x="9354312" y="3886200"/>
            <a:ext cx="2368296" cy="457200"/>
          </a:xfrm>
          <a:prstGeom prst="rect">
            <a:avLst/>
          </a:prstGeom>
          <a:noFill/>
          <a:ln/>
        </p:spPr>
        <p:txBody>
          <a:bodyPr wrap="square" rtlCol="0" anchor="ctr"/>
          <a:lstStyle/>
          <a:p>
            <a:pPr indent="0" marL="0">
              <a:buNone/>
            </a:pPr>
            <a:r>
              <a:rPr lang="en-US" sz="1350" b="1" dirty="0">
                <a:solidFill>
                  <a:srgbClr val="3E5C9A"/>
                </a:solidFill>
                <a:latin typeface="Cambria" pitchFamily="34" charset="0"/>
                <a:ea typeface="Cambria" pitchFamily="34" charset="-122"/>
                <a:cs typeface="Cambria" pitchFamily="34" charset="-120"/>
              </a:rPr>
              <a:t>Fără urmă auditabilă</a:t>
            </a:r>
            <a:endParaRPr lang="en-US" sz="1350" dirty="0"/>
          </a:p>
        </p:txBody>
      </p:sp>
      <p:sp>
        <p:nvSpPr>
          <p:cNvPr id="39" name="Text 37"/>
          <p:cNvSpPr/>
          <p:nvPr/>
        </p:nvSpPr>
        <p:spPr>
          <a:xfrm>
            <a:off x="9354312" y="4389120"/>
            <a:ext cx="2368296" cy="1280160"/>
          </a:xfrm>
          <a:prstGeom prst="rect">
            <a:avLst/>
          </a:prstGeom>
          <a:noFill/>
          <a:ln/>
        </p:spPr>
        <p:txBody>
          <a:bodyPr wrap="square" rtlCol="0" anchor="t"/>
          <a:lstStyle/>
          <a:p>
            <a:pPr indent="0" marL="0">
              <a:buNone/>
            </a:pPr>
            <a:r>
              <a:rPr lang="en-US" sz="1150" dirty="0">
                <a:solidFill>
                  <a:srgbClr val="24262E"/>
                </a:solidFill>
                <a:latin typeface="Calibri" pitchFamily="34" charset="0"/>
                <a:ea typeface="Calibri" pitchFamily="34" charset="-122"/>
                <a:cs typeface="Calibri" pitchFamily="34" charset="-120"/>
              </a:rPr>
              <a:t>Rareori se documentează de ce s-a ales o anumită prioritate.</a:t>
            </a:r>
            <a:endParaRPr lang="en-US" sz="1150" dirty="0"/>
          </a:p>
        </p:txBody>
      </p:sp>
      <p:sp>
        <p:nvSpPr>
          <p:cNvPr id="40" name="Text 38"/>
          <p:cNvSpPr/>
          <p:nvPr/>
        </p:nvSpPr>
        <p:spPr>
          <a:xfrm>
            <a:off x="11521440" y="6446520"/>
            <a:ext cx="457200" cy="320040"/>
          </a:xfrm>
          <a:prstGeom prst="rect">
            <a:avLst/>
          </a:prstGeom>
          <a:noFill/>
          <a:ln/>
        </p:spPr>
        <p:txBody>
          <a:bodyPr wrap="square" rtlCol="0" anchor="ctr"/>
          <a:lstStyle/>
          <a:p>
            <a:pPr algn="r" indent="0" marL="0">
              <a:buNone/>
            </a:pPr>
            <a:r>
              <a:rPr lang="en-US" sz="1000" dirty="0">
                <a:solidFill>
                  <a:srgbClr val="6B70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502920"/>
            <a:ext cx="10515600" cy="640080"/>
          </a:xfrm>
          <a:prstGeom prst="rect">
            <a:avLst/>
          </a:prstGeom>
          <a:noFill/>
          <a:ln/>
        </p:spPr>
        <p:txBody>
          <a:bodyPr wrap="square" rtlCol="0" anchor="ctr"/>
          <a:lstStyle/>
          <a:p>
            <a:pPr indent="0" marL="0">
              <a:buNone/>
            </a:pPr>
            <a:r>
              <a:rPr lang="en-US" sz="3000" b="1" dirty="0">
                <a:solidFill>
                  <a:srgbClr val="24262E"/>
                </a:solidFill>
                <a:latin typeface="Cambria" pitchFamily="34" charset="0"/>
                <a:ea typeface="Cambria" pitchFamily="34" charset="-122"/>
                <a:cs typeface="Cambria" pitchFamily="34" charset="-120"/>
              </a:rPr>
              <a:t>Soluția propusă — flux TO-BE</a:t>
            </a:r>
            <a:endParaRPr lang="en-US" sz="3000" dirty="0"/>
          </a:p>
        </p:txBody>
      </p:sp>
      <p:sp>
        <p:nvSpPr>
          <p:cNvPr id="3" name="Shape 1"/>
          <p:cNvSpPr/>
          <p:nvPr/>
        </p:nvSpPr>
        <p:spPr>
          <a:xfrm>
            <a:off x="548640" y="1783080"/>
            <a:ext cx="1600200" cy="1371600"/>
          </a:xfrm>
          <a:prstGeom prst="roundRect">
            <a:avLst>
              <a:gd name="adj" fmla="val 4667"/>
            </a:avLst>
          </a:prstGeom>
          <a:solidFill>
            <a:srgbClr val="FFFFFF"/>
          </a:solidFill>
          <a:ln w="12700">
            <a:solidFill>
              <a:srgbClr val="D9DEEB"/>
            </a:solidFill>
            <a:prstDash val="solid"/>
          </a:ln>
        </p:spPr>
      </p:sp>
      <p:sp>
        <p:nvSpPr>
          <p:cNvPr id="4" name="Text 2"/>
          <p:cNvSpPr/>
          <p:nvPr/>
        </p:nvSpPr>
        <p:spPr>
          <a:xfrm>
            <a:off x="621792" y="1920240"/>
            <a:ext cx="1453896" cy="502920"/>
          </a:xfrm>
          <a:prstGeom prst="rect">
            <a:avLst/>
          </a:prstGeom>
          <a:noFill/>
          <a:ln/>
        </p:spPr>
        <p:txBody>
          <a:bodyPr wrap="square" rtlCol="0" anchor="ctr"/>
          <a:lstStyle/>
          <a:p>
            <a:pPr algn="ctr" indent="0" marL="0">
              <a:buNone/>
            </a:pPr>
            <a:r>
              <a:rPr lang="en-US" sz="1250" b="1" dirty="0">
                <a:solidFill>
                  <a:srgbClr val="1E2761"/>
                </a:solidFill>
                <a:latin typeface="Cambria" pitchFamily="34" charset="0"/>
                <a:ea typeface="Cambria" pitchFamily="34" charset="-122"/>
                <a:cs typeface="Cambria" pitchFamily="34" charset="-120"/>
              </a:rPr>
              <a:t>Tichet nou</a:t>
            </a:r>
            <a:endParaRPr lang="en-US" sz="1250" dirty="0"/>
          </a:p>
        </p:txBody>
      </p:sp>
      <p:sp>
        <p:nvSpPr>
          <p:cNvPr id="5" name="Shape 3"/>
          <p:cNvSpPr/>
          <p:nvPr/>
        </p:nvSpPr>
        <p:spPr>
          <a:xfrm>
            <a:off x="2185416" y="2468880"/>
            <a:ext cx="182880" cy="0"/>
          </a:xfrm>
          <a:prstGeom prst="line">
            <a:avLst/>
          </a:prstGeom>
          <a:noFill/>
          <a:ln w="25400">
            <a:solidFill>
              <a:srgbClr val="3E5C9A"/>
            </a:solidFill>
            <a:prstDash val="solid"/>
            <a:tailEnd type="triangle"/>
          </a:ln>
        </p:spPr>
      </p:sp>
      <p:sp>
        <p:nvSpPr>
          <p:cNvPr id="6" name="Shape 4"/>
          <p:cNvSpPr/>
          <p:nvPr/>
        </p:nvSpPr>
        <p:spPr>
          <a:xfrm>
            <a:off x="2404872" y="1783080"/>
            <a:ext cx="1600200" cy="1371600"/>
          </a:xfrm>
          <a:prstGeom prst="roundRect">
            <a:avLst>
              <a:gd name="adj" fmla="val 4667"/>
            </a:avLst>
          </a:prstGeom>
          <a:solidFill>
            <a:srgbClr val="FFFFFF"/>
          </a:solidFill>
          <a:ln w="12700">
            <a:solidFill>
              <a:srgbClr val="D9DEEB"/>
            </a:solidFill>
            <a:prstDash val="solid"/>
          </a:ln>
        </p:spPr>
      </p:sp>
      <p:sp>
        <p:nvSpPr>
          <p:cNvPr id="7" name="Text 5"/>
          <p:cNvSpPr/>
          <p:nvPr/>
        </p:nvSpPr>
        <p:spPr>
          <a:xfrm>
            <a:off x="2478024" y="1920240"/>
            <a:ext cx="1453896" cy="502920"/>
          </a:xfrm>
          <a:prstGeom prst="rect">
            <a:avLst/>
          </a:prstGeom>
          <a:noFill/>
          <a:ln/>
        </p:spPr>
        <p:txBody>
          <a:bodyPr wrap="square" rtlCol="0" anchor="ctr"/>
          <a:lstStyle/>
          <a:p>
            <a:pPr algn="ctr" indent="0" marL="0">
              <a:buNone/>
            </a:pPr>
            <a:r>
              <a:rPr lang="en-US" sz="1250" b="1" dirty="0">
                <a:solidFill>
                  <a:srgbClr val="1E2761"/>
                </a:solidFill>
                <a:latin typeface="Cambria" pitchFamily="34" charset="0"/>
                <a:ea typeface="Cambria" pitchFamily="34" charset="-122"/>
                <a:cs typeface="Cambria" pitchFamily="34" charset="-120"/>
              </a:rPr>
              <a:t>Retrieval</a:t>
            </a:r>
            <a:endParaRPr lang="en-US" sz="1250" dirty="0"/>
          </a:p>
        </p:txBody>
      </p:sp>
      <p:sp>
        <p:nvSpPr>
          <p:cNvPr id="8" name="Text 6"/>
          <p:cNvSpPr/>
          <p:nvPr/>
        </p:nvSpPr>
        <p:spPr>
          <a:xfrm>
            <a:off x="2478024" y="2404872"/>
            <a:ext cx="1453896" cy="640080"/>
          </a:xfrm>
          <a:prstGeom prst="rect">
            <a:avLst/>
          </a:prstGeom>
          <a:noFill/>
          <a:ln/>
        </p:spPr>
        <p:txBody>
          <a:bodyPr wrap="square" rtlCol="0" anchor="t"/>
          <a:lstStyle/>
          <a:p>
            <a:pPr algn="ctr" indent="0" marL="0">
              <a:buNone/>
            </a:pPr>
            <a:r>
              <a:rPr lang="en-US" sz="1000" dirty="0">
                <a:solidFill>
                  <a:srgbClr val="6B7080"/>
                </a:solidFill>
                <a:latin typeface="Calibri" pitchFamily="34" charset="0"/>
                <a:ea typeface="Calibri" pitchFamily="34" charset="-122"/>
                <a:cs typeface="Calibri" pitchFamily="34" charset="-120"/>
              </a:rPr>
              <a:t>istoric + KB</a:t>
            </a:r>
            <a:endParaRPr lang="en-US" sz="1000" dirty="0"/>
          </a:p>
          <a:p>
            <a:pPr algn="ctr" indent="0" marL="0">
              <a:buNone/>
            </a:pPr>
            <a:r>
              <a:rPr lang="en-US" sz="1000" dirty="0">
                <a:solidFill>
                  <a:srgbClr val="6B7080"/>
                </a:solidFill>
                <a:latin typeface="Calibri" pitchFamily="34" charset="0"/>
                <a:ea typeface="Calibri" pitchFamily="34" charset="-122"/>
                <a:cs typeface="Calibri" pitchFamily="34" charset="-120"/>
              </a:rPr>
              <a:t>(ChromaDB)</a:t>
            </a:r>
            <a:endParaRPr lang="en-US" sz="1000" dirty="0"/>
          </a:p>
        </p:txBody>
      </p:sp>
      <p:sp>
        <p:nvSpPr>
          <p:cNvPr id="9" name="Shape 7"/>
          <p:cNvSpPr/>
          <p:nvPr/>
        </p:nvSpPr>
        <p:spPr>
          <a:xfrm>
            <a:off x="4041648" y="2468880"/>
            <a:ext cx="182880" cy="0"/>
          </a:xfrm>
          <a:prstGeom prst="line">
            <a:avLst/>
          </a:prstGeom>
          <a:noFill/>
          <a:ln w="25400">
            <a:solidFill>
              <a:srgbClr val="3E5C9A"/>
            </a:solidFill>
            <a:prstDash val="solid"/>
            <a:tailEnd type="triangle"/>
          </a:ln>
        </p:spPr>
      </p:sp>
      <p:sp>
        <p:nvSpPr>
          <p:cNvPr id="10" name="Shape 8"/>
          <p:cNvSpPr/>
          <p:nvPr/>
        </p:nvSpPr>
        <p:spPr>
          <a:xfrm>
            <a:off x="4261104" y="1783080"/>
            <a:ext cx="1600200" cy="1371600"/>
          </a:xfrm>
          <a:prstGeom prst="roundRect">
            <a:avLst>
              <a:gd name="adj" fmla="val 4667"/>
            </a:avLst>
          </a:prstGeom>
          <a:solidFill>
            <a:srgbClr val="FFFFFF"/>
          </a:solidFill>
          <a:ln w="12700">
            <a:solidFill>
              <a:srgbClr val="D9DEEB"/>
            </a:solidFill>
            <a:prstDash val="solid"/>
          </a:ln>
        </p:spPr>
      </p:sp>
      <p:sp>
        <p:nvSpPr>
          <p:cNvPr id="11" name="Text 9"/>
          <p:cNvSpPr/>
          <p:nvPr/>
        </p:nvSpPr>
        <p:spPr>
          <a:xfrm>
            <a:off x="4334256" y="1920240"/>
            <a:ext cx="1453896" cy="502920"/>
          </a:xfrm>
          <a:prstGeom prst="rect">
            <a:avLst/>
          </a:prstGeom>
          <a:noFill/>
          <a:ln/>
        </p:spPr>
        <p:txBody>
          <a:bodyPr wrap="square" rtlCol="0" anchor="ctr"/>
          <a:lstStyle/>
          <a:p>
            <a:pPr algn="ctr" indent="0" marL="0">
              <a:buNone/>
            </a:pPr>
            <a:r>
              <a:rPr lang="en-US" sz="1250" b="1" dirty="0">
                <a:solidFill>
                  <a:srgbClr val="1E2761"/>
                </a:solidFill>
                <a:latin typeface="Cambria" pitchFamily="34" charset="0"/>
                <a:ea typeface="Cambria" pitchFamily="34" charset="-122"/>
                <a:cs typeface="Cambria" pitchFamily="34" charset="-120"/>
              </a:rPr>
              <a:t>Clasificare AI</a:t>
            </a:r>
            <a:endParaRPr lang="en-US" sz="1250" dirty="0"/>
          </a:p>
        </p:txBody>
      </p:sp>
      <p:sp>
        <p:nvSpPr>
          <p:cNvPr id="12" name="Text 10"/>
          <p:cNvSpPr/>
          <p:nvPr/>
        </p:nvSpPr>
        <p:spPr>
          <a:xfrm>
            <a:off x="4334256" y="2404872"/>
            <a:ext cx="1453896" cy="640080"/>
          </a:xfrm>
          <a:prstGeom prst="rect">
            <a:avLst/>
          </a:prstGeom>
          <a:noFill/>
          <a:ln/>
        </p:spPr>
        <p:txBody>
          <a:bodyPr wrap="square" rtlCol="0" anchor="t"/>
          <a:lstStyle/>
          <a:p>
            <a:pPr algn="ctr" indent="0" marL="0">
              <a:buNone/>
            </a:pPr>
            <a:r>
              <a:rPr lang="en-US" sz="1000" dirty="0">
                <a:solidFill>
                  <a:srgbClr val="6B7080"/>
                </a:solidFill>
                <a:latin typeface="Calibri" pitchFamily="34" charset="0"/>
                <a:ea typeface="Calibri" pitchFamily="34" charset="-122"/>
                <a:cs typeface="Calibri" pitchFamily="34" charset="-120"/>
              </a:rPr>
              <a:t>prioritate,</a:t>
            </a:r>
            <a:endParaRPr lang="en-US" sz="1000" dirty="0"/>
          </a:p>
          <a:p>
            <a:pPr algn="ctr" indent="0" marL="0">
              <a:buNone/>
            </a:pPr>
            <a:r>
              <a:rPr lang="en-US" sz="1000" dirty="0">
                <a:solidFill>
                  <a:srgbClr val="6B7080"/>
                </a:solidFill>
                <a:latin typeface="Calibri" pitchFamily="34" charset="0"/>
                <a:ea typeface="Calibri" pitchFamily="34" charset="-122"/>
                <a:cs typeface="Calibri" pitchFamily="34" charset="-120"/>
              </a:rPr>
              <a:t>categorie, echipă</a:t>
            </a:r>
            <a:endParaRPr lang="en-US" sz="1000" dirty="0"/>
          </a:p>
        </p:txBody>
      </p:sp>
      <p:sp>
        <p:nvSpPr>
          <p:cNvPr id="13" name="Shape 11"/>
          <p:cNvSpPr/>
          <p:nvPr/>
        </p:nvSpPr>
        <p:spPr>
          <a:xfrm>
            <a:off x="5897880" y="2468880"/>
            <a:ext cx="182880" cy="0"/>
          </a:xfrm>
          <a:prstGeom prst="line">
            <a:avLst/>
          </a:prstGeom>
          <a:noFill/>
          <a:ln w="25400">
            <a:solidFill>
              <a:srgbClr val="3E5C9A"/>
            </a:solidFill>
            <a:prstDash val="solid"/>
            <a:tailEnd type="triangle"/>
          </a:ln>
        </p:spPr>
      </p:sp>
      <p:sp>
        <p:nvSpPr>
          <p:cNvPr id="14" name="Shape 12"/>
          <p:cNvSpPr/>
          <p:nvPr/>
        </p:nvSpPr>
        <p:spPr>
          <a:xfrm>
            <a:off x="6117336" y="1783080"/>
            <a:ext cx="1600200" cy="1371600"/>
          </a:xfrm>
          <a:prstGeom prst="roundRect">
            <a:avLst>
              <a:gd name="adj" fmla="val 4667"/>
            </a:avLst>
          </a:prstGeom>
          <a:solidFill>
            <a:srgbClr val="FFFFFF"/>
          </a:solidFill>
          <a:ln w="12700">
            <a:solidFill>
              <a:srgbClr val="D9DEEB"/>
            </a:solidFill>
            <a:prstDash val="solid"/>
          </a:ln>
        </p:spPr>
      </p:sp>
      <p:sp>
        <p:nvSpPr>
          <p:cNvPr id="15" name="Text 13"/>
          <p:cNvSpPr/>
          <p:nvPr/>
        </p:nvSpPr>
        <p:spPr>
          <a:xfrm>
            <a:off x="6190488" y="1920240"/>
            <a:ext cx="1453896" cy="502920"/>
          </a:xfrm>
          <a:prstGeom prst="rect">
            <a:avLst/>
          </a:prstGeom>
          <a:noFill/>
          <a:ln/>
        </p:spPr>
        <p:txBody>
          <a:bodyPr wrap="square" rtlCol="0" anchor="ctr"/>
          <a:lstStyle/>
          <a:p>
            <a:pPr algn="ctr" indent="0" marL="0">
              <a:buNone/>
            </a:pPr>
            <a:r>
              <a:rPr lang="en-US" sz="1250" b="1" dirty="0">
                <a:solidFill>
                  <a:srgbClr val="1E2761"/>
                </a:solidFill>
                <a:latin typeface="Cambria" pitchFamily="34" charset="0"/>
                <a:ea typeface="Cambria" pitchFamily="34" charset="-122"/>
                <a:cs typeface="Cambria" pitchFamily="34" charset="-120"/>
              </a:rPr>
              <a:t>Validare</a:t>
            </a:r>
            <a:endParaRPr lang="en-US" sz="1250" dirty="0"/>
          </a:p>
          <a:p>
            <a:pPr algn="ctr" indent="0" marL="0">
              <a:buNone/>
            </a:pPr>
            <a:r>
              <a:rPr lang="en-US" sz="1250" b="1" dirty="0">
                <a:solidFill>
                  <a:srgbClr val="1E2761"/>
                </a:solidFill>
                <a:latin typeface="Cambria" pitchFamily="34" charset="0"/>
                <a:ea typeface="Cambria" pitchFamily="34" charset="-122"/>
                <a:cs typeface="Cambria" pitchFamily="34" charset="-120"/>
              </a:rPr>
              <a:t>structurată</a:t>
            </a:r>
            <a:endParaRPr lang="en-US" sz="1250" dirty="0"/>
          </a:p>
        </p:txBody>
      </p:sp>
      <p:sp>
        <p:nvSpPr>
          <p:cNvPr id="16" name="Text 14"/>
          <p:cNvSpPr/>
          <p:nvPr/>
        </p:nvSpPr>
        <p:spPr>
          <a:xfrm>
            <a:off x="6190488" y="2404872"/>
            <a:ext cx="1453896" cy="640080"/>
          </a:xfrm>
          <a:prstGeom prst="rect">
            <a:avLst/>
          </a:prstGeom>
          <a:noFill/>
          <a:ln/>
        </p:spPr>
        <p:txBody>
          <a:bodyPr wrap="square" rtlCol="0" anchor="t"/>
          <a:lstStyle/>
          <a:p>
            <a:pPr algn="ctr" indent="0" marL="0">
              <a:buNone/>
            </a:pPr>
            <a:r>
              <a:rPr lang="en-US" sz="1000" dirty="0">
                <a:solidFill>
                  <a:srgbClr val="6B7080"/>
                </a:solidFill>
                <a:latin typeface="Calibri" pitchFamily="34" charset="0"/>
                <a:ea typeface="Calibri" pitchFamily="34" charset="-122"/>
                <a:cs typeface="Calibri" pitchFamily="34" charset="-120"/>
              </a:rPr>
              <a:t>schema Pydantic</a:t>
            </a:r>
            <a:endParaRPr lang="en-US" sz="1000" dirty="0"/>
          </a:p>
        </p:txBody>
      </p:sp>
      <p:sp>
        <p:nvSpPr>
          <p:cNvPr id="17" name="Shape 15"/>
          <p:cNvSpPr/>
          <p:nvPr/>
        </p:nvSpPr>
        <p:spPr>
          <a:xfrm>
            <a:off x="7754112" y="2468880"/>
            <a:ext cx="182880" cy="0"/>
          </a:xfrm>
          <a:prstGeom prst="line">
            <a:avLst/>
          </a:prstGeom>
          <a:noFill/>
          <a:ln w="25400">
            <a:solidFill>
              <a:srgbClr val="3E5C9A"/>
            </a:solidFill>
            <a:prstDash val="solid"/>
            <a:tailEnd type="triangle"/>
          </a:ln>
        </p:spPr>
      </p:sp>
      <p:sp>
        <p:nvSpPr>
          <p:cNvPr id="18" name="Shape 16"/>
          <p:cNvSpPr/>
          <p:nvPr/>
        </p:nvSpPr>
        <p:spPr>
          <a:xfrm>
            <a:off x="7973568" y="1783080"/>
            <a:ext cx="1600200" cy="1371600"/>
          </a:xfrm>
          <a:prstGeom prst="roundRect">
            <a:avLst>
              <a:gd name="adj" fmla="val 4667"/>
            </a:avLst>
          </a:prstGeom>
          <a:solidFill>
            <a:srgbClr val="1E2761"/>
          </a:solidFill>
          <a:ln w="12700">
            <a:solidFill>
              <a:srgbClr val="1E2761"/>
            </a:solidFill>
            <a:prstDash val="solid"/>
          </a:ln>
        </p:spPr>
      </p:sp>
      <p:sp>
        <p:nvSpPr>
          <p:cNvPr id="19" name="Text 17"/>
          <p:cNvSpPr/>
          <p:nvPr/>
        </p:nvSpPr>
        <p:spPr>
          <a:xfrm>
            <a:off x="8046720" y="1920240"/>
            <a:ext cx="1453896" cy="50292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Decizie</a:t>
            </a:r>
            <a:endParaRPr lang="en-US" sz="1250" dirty="0"/>
          </a:p>
        </p:txBody>
      </p:sp>
      <p:sp>
        <p:nvSpPr>
          <p:cNvPr id="20" name="Text 18"/>
          <p:cNvSpPr/>
          <p:nvPr/>
        </p:nvSpPr>
        <p:spPr>
          <a:xfrm>
            <a:off x="8046720" y="2404872"/>
            <a:ext cx="1453896" cy="640080"/>
          </a:xfrm>
          <a:prstGeom prst="rect">
            <a:avLst/>
          </a:prstGeom>
          <a:noFill/>
          <a:ln/>
        </p:spPr>
        <p:txBody>
          <a:bodyPr wrap="square" rtlCol="0" anchor="t"/>
          <a:lstStyle/>
          <a:p>
            <a:pPr algn="ctr" indent="0" marL="0">
              <a:buNone/>
            </a:pPr>
            <a:r>
              <a:rPr lang="en-US" sz="1000" dirty="0">
                <a:solidFill>
                  <a:srgbClr val="CADCFC"/>
                </a:solidFill>
                <a:latin typeface="Calibri" pitchFamily="34" charset="0"/>
                <a:ea typeface="Calibri" pitchFamily="34" charset="-122"/>
                <a:cs typeface="Calibri" pitchFamily="34" charset="-120"/>
              </a:rPr>
              <a:t>auto / aprobare</a:t>
            </a:r>
            <a:endParaRPr lang="en-US" sz="1000" dirty="0"/>
          </a:p>
          <a:p>
            <a:pPr algn="ctr" indent="0" marL="0">
              <a:buNone/>
            </a:pPr>
            <a:r>
              <a:rPr lang="en-US" sz="1000" dirty="0">
                <a:solidFill>
                  <a:srgbClr val="CADCFC"/>
                </a:solidFill>
                <a:latin typeface="Calibri" pitchFamily="34" charset="0"/>
                <a:ea typeface="Calibri" pitchFamily="34" charset="-122"/>
                <a:cs typeface="Calibri" pitchFamily="34" charset="-120"/>
              </a:rPr>
              <a:t>umană</a:t>
            </a:r>
            <a:endParaRPr lang="en-US" sz="1000" dirty="0"/>
          </a:p>
        </p:txBody>
      </p:sp>
      <p:sp>
        <p:nvSpPr>
          <p:cNvPr id="21" name="Shape 19"/>
          <p:cNvSpPr/>
          <p:nvPr/>
        </p:nvSpPr>
        <p:spPr>
          <a:xfrm>
            <a:off x="9610344" y="2468880"/>
            <a:ext cx="182880" cy="0"/>
          </a:xfrm>
          <a:prstGeom prst="line">
            <a:avLst/>
          </a:prstGeom>
          <a:noFill/>
          <a:ln w="25400">
            <a:solidFill>
              <a:srgbClr val="3E5C9A"/>
            </a:solidFill>
            <a:prstDash val="solid"/>
            <a:tailEnd type="triangle"/>
          </a:ln>
        </p:spPr>
      </p:sp>
      <p:sp>
        <p:nvSpPr>
          <p:cNvPr id="22" name="Shape 20"/>
          <p:cNvSpPr/>
          <p:nvPr/>
        </p:nvSpPr>
        <p:spPr>
          <a:xfrm>
            <a:off x="9829800" y="1783080"/>
            <a:ext cx="1600200" cy="1371600"/>
          </a:xfrm>
          <a:prstGeom prst="roundRect">
            <a:avLst>
              <a:gd name="adj" fmla="val 4667"/>
            </a:avLst>
          </a:prstGeom>
          <a:solidFill>
            <a:srgbClr val="FFFFFF"/>
          </a:solidFill>
          <a:ln w="12700">
            <a:solidFill>
              <a:srgbClr val="D9DEEB"/>
            </a:solidFill>
            <a:prstDash val="solid"/>
          </a:ln>
        </p:spPr>
      </p:sp>
      <p:sp>
        <p:nvSpPr>
          <p:cNvPr id="23" name="Text 21"/>
          <p:cNvSpPr/>
          <p:nvPr/>
        </p:nvSpPr>
        <p:spPr>
          <a:xfrm>
            <a:off x="9902952" y="1920240"/>
            <a:ext cx="1453896" cy="502920"/>
          </a:xfrm>
          <a:prstGeom prst="rect">
            <a:avLst/>
          </a:prstGeom>
          <a:noFill/>
          <a:ln/>
        </p:spPr>
        <p:txBody>
          <a:bodyPr wrap="square" rtlCol="0" anchor="ctr"/>
          <a:lstStyle/>
          <a:p>
            <a:pPr algn="ctr" indent="0" marL="0">
              <a:buNone/>
            </a:pPr>
            <a:r>
              <a:rPr lang="en-US" sz="1250" b="1" dirty="0">
                <a:solidFill>
                  <a:srgbClr val="1E2761"/>
                </a:solidFill>
                <a:latin typeface="Cambria" pitchFamily="34" charset="0"/>
                <a:ea typeface="Cambria" pitchFamily="34" charset="-122"/>
                <a:cs typeface="Cambria" pitchFamily="34" charset="-120"/>
              </a:rPr>
              <a:t>Rutare +</a:t>
            </a:r>
            <a:endParaRPr lang="en-US" sz="1250" dirty="0"/>
          </a:p>
          <a:p>
            <a:pPr algn="ctr" indent="0" marL="0">
              <a:buNone/>
            </a:pPr>
            <a:r>
              <a:rPr lang="en-US" sz="1250" b="1" dirty="0">
                <a:solidFill>
                  <a:srgbClr val="1E2761"/>
                </a:solidFill>
                <a:latin typeface="Cambria" pitchFamily="34" charset="0"/>
                <a:ea typeface="Cambria" pitchFamily="34" charset="-122"/>
                <a:cs typeface="Cambria" pitchFamily="34" charset="-120"/>
              </a:rPr>
              <a:t>audit</a:t>
            </a:r>
            <a:endParaRPr lang="en-US" sz="1250" dirty="0"/>
          </a:p>
        </p:txBody>
      </p:sp>
      <p:sp>
        <p:nvSpPr>
          <p:cNvPr id="24" name="Text 22"/>
          <p:cNvSpPr/>
          <p:nvPr/>
        </p:nvSpPr>
        <p:spPr>
          <a:xfrm>
            <a:off x="9902952" y="2404872"/>
            <a:ext cx="1453896" cy="640080"/>
          </a:xfrm>
          <a:prstGeom prst="rect">
            <a:avLst/>
          </a:prstGeom>
          <a:noFill/>
          <a:ln/>
        </p:spPr>
        <p:txBody>
          <a:bodyPr wrap="square" rtlCol="0" anchor="t"/>
          <a:lstStyle/>
          <a:p>
            <a:pPr algn="ctr" indent="0" marL="0">
              <a:buNone/>
            </a:pPr>
            <a:r>
              <a:rPr lang="en-US" sz="1000" dirty="0">
                <a:solidFill>
                  <a:srgbClr val="6B7080"/>
                </a:solidFill>
                <a:latin typeface="Calibri" pitchFamily="34" charset="0"/>
                <a:ea typeface="Calibri" pitchFamily="34" charset="-122"/>
                <a:cs typeface="Calibri" pitchFamily="34" charset="-120"/>
              </a:rPr>
              <a:t>jurnal complet</a:t>
            </a:r>
            <a:endParaRPr lang="en-US" sz="1000" dirty="0"/>
          </a:p>
        </p:txBody>
      </p:sp>
      <p:sp>
        <p:nvSpPr>
          <p:cNvPr id="25" name="Shape 23"/>
          <p:cNvSpPr/>
          <p:nvPr/>
        </p:nvSpPr>
        <p:spPr>
          <a:xfrm>
            <a:off x="548640" y="3703320"/>
            <a:ext cx="10881360" cy="2148840"/>
          </a:xfrm>
          <a:prstGeom prst="roundRect">
            <a:avLst>
              <a:gd name="adj" fmla="val 3404"/>
            </a:avLst>
          </a:prstGeom>
          <a:solidFill>
            <a:srgbClr val="FFFFFF"/>
          </a:solidFill>
          <a:ln w="12700">
            <a:solidFill>
              <a:srgbClr val="D9DEEB"/>
            </a:solidFill>
            <a:prstDash val="solid"/>
          </a:ln>
        </p:spPr>
      </p:sp>
      <p:sp>
        <p:nvSpPr>
          <p:cNvPr id="26" name="Text 24"/>
          <p:cNvSpPr/>
          <p:nvPr/>
        </p:nvSpPr>
        <p:spPr>
          <a:xfrm>
            <a:off x="868680" y="3931920"/>
            <a:ext cx="7315200" cy="36576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Ce se schimbă față de AS-IS</a:t>
            </a:r>
            <a:endParaRPr lang="en-US" sz="1500" dirty="0"/>
          </a:p>
        </p:txBody>
      </p:sp>
      <p:sp>
        <p:nvSpPr>
          <p:cNvPr id="27" name="Text 25"/>
          <p:cNvSpPr/>
          <p:nvPr/>
        </p:nvSpPr>
        <p:spPr>
          <a:xfrm>
            <a:off x="868680" y="4389120"/>
            <a:ext cx="10149840" cy="1280160"/>
          </a:xfrm>
          <a:prstGeom prst="rect">
            <a:avLst/>
          </a:prstGeom>
          <a:noFill/>
          <a:ln/>
        </p:spPr>
        <p:txBody>
          <a:bodyPr wrap="square" rtlCol="0" anchor="t"/>
          <a:lstStyle/>
          <a:p>
            <a:pPr indent="0" marL="0">
              <a:buNone/>
            </a:pPr>
            <a:r>
              <a:rPr lang="en-US" sz="1350" dirty="0">
                <a:solidFill>
                  <a:srgbClr val="24262E"/>
                </a:solidFill>
                <a:latin typeface="Calibri" pitchFamily="34" charset="0"/>
                <a:ea typeface="Calibri" pitchFamily="34" charset="-122"/>
                <a:cs typeface="Calibri" pitchFamily="34" charset="-120"/>
              </a:rPr>
              <a:t>Dispecerul uman nu mai citește fiecare tichet de la zero. Sistemul pregătește deja o clasificare propusă, motivată și cu surse similare atașate — omul intervine doar acolo unde sistemul semnalează incertitudine sau risc ridicat (ex. prioritate P1, sau lipsă de precedent similar în istoric).</a:t>
            </a:r>
            <a:endParaRPr lang="en-US" sz="1350" dirty="0"/>
          </a:p>
        </p:txBody>
      </p:sp>
      <p:sp>
        <p:nvSpPr>
          <p:cNvPr id="28" name="Text 26"/>
          <p:cNvSpPr/>
          <p:nvPr/>
        </p:nvSpPr>
        <p:spPr>
          <a:xfrm>
            <a:off x="11521440" y="6446520"/>
            <a:ext cx="457200" cy="320040"/>
          </a:xfrm>
          <a:prstGeom prst="rect">
            <a:avLst/>
          </a:prstGeom>
          <a:noFill/>
          <a:ln/>
        </p:spPr>
        <p:txBody>
          <a:bodyPr wrap="square" rtlCol="0" anchor="ctr"/>
          <a:lstStyle/>
          <a:p>
            <a:pPr algn="r" indent="0" marL="0">
              <a:buNone/>
            </a:pPr>
            <a:r>
              <a:rPr lang="en-US" sz="1000" dirty="0">
                <a:solidFill>
                  <a:srgbClr val="6B70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502920"/>
            <a:ext cx="10515600" cy="640080"/>
          </a:xfrm>
          <a:prstGeom prst="rect">
            <a:avLst/>
          </a:prstGeom>
          <a:noFill/>
          <a:ln/>
        </p:spPr>
        <p:txBody>
          <a:bodyPr wrap="square" rtlCol="0" anchor="ctr"/>
          <a:lstStyle/>
          <a:p>
            <a:pPr indent="0" marL="0">
              <a:buNone/>
            </a:pPr>
            <a:r>
              <a:rPr lang="en-US" sz="3000" b="1" dirty="0">
                <a:solidFill>
                  <a:srgbClr val="24262E"/>
                </a:solidFill>
                <a:latin typeface="Cambria" pitchFamily="34" charset="0"/>
                <a:ea typeface="Cambria" pitchFamily="34" charset="-122"/>
                <a:cs typeface="Cambria" pitchFamily="34" charset="-120"/>
              </a:rPr>
              <a:t>Arhitectură — componente și relații</a:t>
            </a:r>
            <a:endParaRPr lang="en-US" sz="3000" dirty="0"/>
          </a:p>
        </p:txBody>
      </p:sp>
      <p:sp>
        <p:nvSpPr>
          <p:cNvPr id="3" name="Shape 1"/>
          <p:cNvSpPr/>
          <p:nvPr/>
        </p:nvSpPr>
        <p:spPr>
          <a:xfrm>
            <a:off x="548640" y="2194560"/>
            <a:ext cx="1600200" cy="1005840"/>
          </a:xfrm>
          <a:prstGeom prst="roundRect">
            <a:avLst>
              <a:gd name="adj" fmla="val 5455"/>
            </a:avLst>
          </a:prstGeom>
          <a:solidFill>
            <a:srgbClr val="FFFFFF"/>
          </a:solidFill>
          <a:ln w="12700">
            <a:solidFill>
              <a:srgbClr val="C7CEDE"/>
            </a:solidFill>
            <a:prstDash val="solid"/>
          </a:ln>
        </p:spPr>
      </p:sp>
      <p:sp>
        <p:nvSpPr>
          <p:cNvPr id="4" name="Text 2"/>
          <p:cNvSpPr/>
          <p:nvPr/>
        </p:nvSpPr>
        <p:spPr>
          <a:xfrm>
            <a:off x="594360" y="2286000"/>
            <a:ext cx="1508760" cy="365760"/>
          </a:xfrm>
          <a:prstGeom prst="rect">
            <a:avLst/>
          </a:prstGeom>
          <a:noFill/>
          <a:ln/>
        </p:spPr>
        <p:txBody>
          <a:bodyPr wrap="square" rtlCol="0" anchor="ctr"/>
          <a:lstStyle/>
          <a:p>
            <a:pPr algn="ctr" indent="0" marL="0">
              <a:buNone/>
            </a:pPr>
            <a:r>
              <a:rPr lang="en-US" sz="1200" b="1" dirty="0">
                <a:solidFill>
                  <a:srgbClr val="1E2761"/>
                </a:solidFill>
                <a:latin typeface="Cambria" pitchFamily="34" charset="0"/>
                <a:ea typeface="Cambria" pitchFamily="34" charset="-122"/>
                <a:cs typeface="Cambria" pitchFamily="34" charset="-120"/>
              </a:rPr>
              <a:t>Input</a:t>
            </a:r>
            <a:endParaRPr lang="en-US" sz="1200" dirty="0"/>
          </a:p>
        </p:txBody>
      </p:sp>
      <p:sp>
        <p:nvSpPr>
          <p:cNvPr id="5" name="Text 3"/>
          <p:cNvSpPr/>
          <p:nvPr/>
        </p:nvSpPr>
        <p:spPr>
          <a:xfrm>
            <a:off x="594360" y="2633472"/>
            <a:ext cx="1508760" cy="502920"/>
          </a:xfrm>
          <a:prstGeom prst="rect">
            <a:avLst/>
          </a:prstGeom>
          <a:noFill/>
          <a:ln/>
        </p:spPr>
        <p:txBody>
          <a:bodyPr wrap="square" rtlCol="0" anchor="t"/>
          <a:lstStyle/>
          <a:p>
            <a:pPr algn="ctr" indent="0" marL="0">
              <a:buNone/>
            </a:pPr>
            <a:r>
              <a:rPr lang="en-US" sz="950" dirty="0">
                <a:solidFill>
                  <a:srgbClr val="1E2761"/>
                </a:solidFill>
                <a:latin typeface="Calibri" pitchFamily="34" charset="0"/>
                <a:ea typeface="Calibri" pitchFamily="34" charset="-122"/>
                <a:cs typeface="Calibri" pitchFamily="34" charset="-120"/>
              </a:rPr>
              <a:t>Tichet</a:t>
            </a:r>
            <a:endParaRPr lang="en-US" sz="950" dirty="0"/>
          </a:p>
          <a:p>
            <a:pPr algn="ctr" indent="0" marL="0">
              <a:buNone/>
            </a:pPr>
            <a:r>
              <a:rPr lang="en-US" sz="950" dirty="0">
                <a:solidFill>
                  <a:srgbClr val="1E2761"/>
                </a:solidFill>
                <a:latin typeface="Calibri" pitchFamily="34" charset="0"/>
                <a:ea typeface="Calibri" pitchFamily="34" charset="-122"/>
                <a:cs typeface="Calibri" pitchFamily="34" charset="-120"/>
              </a:rPr>
              <a:t>(UI Streamlit)</a:t>
            </a:r>
            <a:endParaRPr lang="en-US" sz="950" dirty="0"/>
          </a:p>
        </p:txBody>
      </p:sp>
      <p:sp>
        <p:nvSpPr>
          <p:cNvPr id="6" name="Shape 4"/>
          <p:cNvSpPr/>
          <p:nvPr/>
        </p:nvSpPr>
        <p:spPr>
          <a:xfrm>
            <a:off x="2423160" y="1417320"/>
            <a:ext cx="1600200" cy="1005840"/>
          </a:xfrm>
          <a:prstGeom prst="roundRect">
            <a:avLst>
              <a:gd name="adj" fmla="val 5455"/>
            </a:avLst>
          </a:prstGeom>
          <a:solidFill>
            <a:srgbClr val="CADCFC"/>
          </a:solidFill>
          <a:ln w="12700">
            <a:solidFill>
              <a:srgbClr val="C7CEDE"/>
            </a:solidFill>
            <a:prstDash val="solid"/>
          </a:ln>
        </p:spPr>
      </p:sp>
      <p:sp>
        <p:nvSpPr>
          <p:cNvPr id="7" name="Text 5"/>
          <p:cNvSpPr/>
          <p:nvPr/>
        </p:nvSpPr>
        <p:spPr>
          <a:xfrm>
            <a:off x="2468880" y="1508760"/>
            <a:ext cx="1508760" cy="365760"/>
          </a:xfrm>
          <a:prstGeom prst="rect">
            <a:avLst/>
          </a:prstGeom>
          <a:noFill/>
          <a:ln/>
        </p:spPr>
        <p:txBody>
          <a:bodyPr wrap="square" rtlCol="0" anchor="ctr"/>
          <a:lstStyle/>
          <a:p>
            <a:pPr algn="ctr" indent="0" marL="0">
              <a:buNone/>
            </a:pPr>
            <a:r>
              <a:rPr lang="en-US" sz="1200" b="1" dirty="0">
                <a:solidFill>
                  <a:srgbClr val="1E2761"/>
                </a:solidFill>
                <a:latin typeface="Cambria" pitchFamily="34" charset="0"/>
                <a:ea typeface="Cambria" pitchFamily="34" charset="-122"/>
                <a:cs typeface="Cambria" pitchFamily="34" charset="-120"/>
              </a:rPr>
              <a:t>Retrieval</a:t>
            </a:r>
            <a:endParaRPr lang="en-US" sz="1200" dirty="0"/>
          </a:p>
        </p:txBody>
      </p:sp>
      <p:sp>
        <p:nvSpPr>
          <p:cNvPr id="8" name="Text 6"/>
          <p:cNvSpPr/>
          <p:nvPr/>
        </p:nvSpPr>
        <p:spPr>
          <a:xfrm>
            <a:off x="2468880" y="1856232"/>
            <a:ext cx="1508760" cy="502920"/>
          </a:xfrm>
          <a:prstGeom prst="rect">
            <a:avLst/>
          </a:prstGeom>
          <a:noFill/>
          <a:ln/>
        </p:spPr>
        <p:txBody>
          <a:bodyPr wrap="square" rtlCol="0" anchor="t"/>
          <a:lstStyle/>
          <a:p>
            <a:pPr algn="ctr" indent="0" marL="0">
              <a:buNone/>
            </a:pPr>
            <a:r>
              <a:rPr lang="en-US" sz="950" dirty="0">
                <a:solidFill>
                  <a:srgbClr val="1E2761"/>
                </a:solidFill>
                <a:latin typeface="Calibri" pitchFamily="34" charset="0"/>
                <a:ea typeface="Calibri" pitchFamily="34" charset="-122"/>
                <a:cs typeface="Calibri" pitchFamily="34" charset="-120"/>
              </a:rPr>
              <a:t>ChromaDB</a:t>
            </a:r>
            <a:endParaRPr lang="en-US" sz="950" dirty="0"/>
          </a:p>
          <a:p>
            <a:pPr algn="ctr" indent="0" marL="0">
              <a:buNone/>
            </a:pPr>
            <a:r>
              <a:rPr lang="en-US" sz="950" dirty="0">
                <a:solidFill>
                  <a:srgbClr val="1E2761"/>
                </a:solidFill>
                <a:latin typeface="Calibri" pitchFamily="34" charset="0"/>
                <a:ea typeface="Calibri" pitchFamily="34" charset="-122"/>
                <a:cs typeface="Calibri" pitchFamily="34" charset="-120"/>
              </a:rPr>
              <a:t>(embeddings)</a:t>
            </a:r>
            <a:endParaRPr lang="en-US" sz="950" dirty="0"/>
          </a:p>
        </p:txBody>
      </p:sp>
      <p:sp>
        <p:nvSpPr>
          <p:cNvPr id="9" name="Shape 7"/>
          <p:cNvSpPr/>
          <p:nvPr/>
        </p:nvSpPr>
        <p:spPr>
          <a:xfrm>
            <a:off x="2423160" y="2971800"/>
            <a:ext cx="1600200" cy="1005840"/>
          </a:xfrm>
          <a:prstGeom prst="roundRect">
            <a:avLst>
              <a:gd name="adj" fmla="val 5455"/>
            </a:avLst>
          </a:prstGeom>
          <a:solidFill>
            <a:srgbClr val="CADCFC"/>
          </a:solidFill>
          <a:ln w="12700">
            <a:solidFill>
              <a:srgbClr val="C7CEDE"/>
            </a:solidFill>
            <a:prstDash val="solid"/>
          </a:ln>
        </p:spPr>
      </p:sp>
      <p:sp>
        <p:nvSpPr>
          <p:cNvPr id="10" name="Text 8"/>
          <p:cNvSpPr/>
          <p:nvPr/>
        </p:nvSpPr>
        <p:spPr>
          <a:xfrm>
            <a:off x="2468880" y="3063240"/>
            <a:ext cx="1508760" cy="365760"/>
          </a:xfrm>
          <a:prstGeom prst="rect">
            <a:avLst/>
          </a:prstGeom>
          <a:noFill/>
          <a:ln/>
        </p:spPr>
        <p:txBody>
          <a:bodyPr wrap="square" rtlCol="0" anchor="ctr"/>
          <a:lstStyle/>
          <a:p>
            <a:pPr algn="ctr" indent="0" marL="0">
              <a:buNone/>
            </a:pPr>
            <a:r>
              <a:rPr lang="en-US" sz="1200" b="1" dirty="0">
                <a:solidFill>
                  <a:srgbClr val="1E2761"/>
                </a:solidFill>
                <a:latin typeface="Cambria" pitchFamily="34" charset="0"/>
                <a:ea typeface="Cambria" pitchFamily="34" charset="-122"/>
                <a:cs typeface="Cambria" pitchFamily="34" charset="-120"/>
              </a:rPr>
              <a:t>Date</a:t>
            </a:r>
            <a:endParaRPr lang="en-US" sz="1200" dirty="0"/>
          </a:p>
        </p:txBody>
      </p:sp>
      <p:sp>
        <p:nvSpPr>
          <p:cNvPr id="11" name="Text 9"/>
          <p:cNvSpPr/>
          <p:nvPr/>
        </p:nvSpPr>
        <p:spPr>
          <a:xfrm>
            <a:off x="2468880" y="3410712"/>
            <a:ext cx="1508760" cy="502920"/>
          </a:xfrm>
          <a:prstGeom prst="rect">
            <a:avLst/>
          </a:prstGeom>
          <a:noFill/>
          <a:ln/>
        </p:spPr>
        <p:txBody>
          <a:bodyPr wrap="square" rtlCol="0" anchor="t"/>
          <a:lstStyle/>
          <a:p>
            <a:pPr algn="ctr" indent="0" marL="0">
              <a:buNone/>
            </a:pPr>
            <a:r>
              <a:rPr lang="en-US" sz="950" dirty="0">
                <a:solidFill>
                  <a:srgbClr val="1E2761"/>
                </a:solidFill>
                <a:latin typeface="Calibri" pitchFamily="34" charset="0"/>
                <a:ea typeface="Calibri" pitchFamily="34" charset="-122"/>
                <a:cs typeface="Calibri" pitchFamily="34" charset="-120"/>
              </a:rPr>
              <a:t>Tichete istorice</a:t>
            </a:r>
            <a:endParaRPr lang="en-US" sz="950" dirty="0"/>
          </a:p>
          <a:p>
            <a:pPr algn="ctr" indent="0" marL="0">
              <a:buNone/>
            </a:pPr>
            <a:r>
              <a:rPr lang="en-US" sz="950" dirty="0">
                <a:solidFill>
                  <a:srgbClr val="1E2761"/>
                </a:solidFill>
                <a:latin typeface="Calibri" pitchFamily="34" charset="0"/>
                <a:ea typeface="Calibri" pitchFamily="34" charset="-122"/>
                <a:cs typeface="Calibri" pitchFamily="34" charset="-120"/>
              </a:rPr>
              <a:t>+ KB articole</a:t>
            </a:r>
            <a:endParaRPr lang="en-US" sz="950" dirty="0"/>
          </a:p>
        </p:txBody>
      </p:sp>
      <p:sp>
        <p:nvSpPr>
          <p:cNvPr id="12" name="Shape 10"/>
          <p:cNvSpPr/>
          <p:nvPr/>
        </p:nvSpPr>
        <p:spPr>
          <a:xfrm>
            <a:off x="4297680" y="2194560"/>
            <a:ext cx="1737360" cy="1005840"/>
          </a:xfrm>
          <a:prstGeom prst="roundRect">
            <a:avLst>
              <a:gd name="adj" fmla="val 5455"/>
            </a:avLst>
          </a:prstGeom>
          <a:solidFill>
            <a:srgbClr val="1E2761"/>
          </a:solidFill>
          <a:ln w="12700">
            <a:solidFill>
              <a:srgbClr val="C7CEDE"/>
            </a:solidFill>
            <a:prstDash val="solid"/>
          </a:ln>
        </p:spPr>
      </p:sp>
      <p:sp>
        <p:nvSpPr>
          <p:cNvPr id="13" name="Text 11"/>
          <p:cNvSpPr/>
          <p:nvPr/>
        </p:nvSpPr>
        <p:spPr>
          <a:xfrm>
            <a:off x="4343400" y="2286000"/>
            <a:ext cx="1645920" cy="36576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Model / LLM</a:t>
            </a:r>
            <a:endParaRPr lang="en-US" sz="1200" dirty="0"/>
          </a:p>
        </p:txBody>
      </p:sp>
      <p:sp>
        <p:nvSpPr>
          <p:cNvPr id="14" name="Text 12"/>
          <p:cNvSpPr/>
          <p:nvPr/>
        </p:nvSpPr>
        <p:spPr>
          <a:xfrm>
            <a:off x="4343400" y="2633472"/>
            <a:ext cx="1645920" cy="502920"/>
          </a:xfrm>
          <a:prstGeom prst="rect">
            <a:avLst/>
          </a:prstGeom>
          <a:noFill/>
          <a:ln/>
        </p:spPr>
        <p:txBody>
          <a:bodyPr wrap="square" rtlCol="0" anchor="t"/>
          <a:lstStyle/>
          <a:p>
            <a:pPr algn="ctr" indent="0" marL="0">
              <a:buNone/>
            </a:pPr>
            <a:r>
              <a:rPr lang="en-US" sz="950" dirty="0">
                <a:solidFill>
                  <a:srgbClr val="FFFFFF"/>
                </a:solidFill>
                <a:latin typeface="Calibri" pitchFamily="34" charset="0"/>
                <a:ea typeface="Calibri" pitchFamily="34" charset="-122"/>
                <a:cs typeface="Calibri" pitchFamily="34" charset="-120"/>
              </a:rPr>
              <a:t>Few-shot (Groq)</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LoRA (Ollama)</a:t>
            </a:r>
            <a:endParaRPr lang="en-US" sz="950" dirty="0"/>
          </a:p>
        </p:txBody>
      </p:sp>
      <p:sp>
        <p:nvSpPr>
          <p:cNvPr id="15" name="Shape 13"/>
          <p:cNvSpPr/>
          <p:nvPr/>
        </p:nvSpPr>
        <p:spPr>
          <a:xfrm>
            <a:off x="6309360" y="2194560"/>
            <a:ext cx="1737360" cy="1005840"/>
          </a:xfrm>
          <a:prstGeom prst="roundRect">
            <a:avLst>
              <a:gd name="adj" fmla="val 5455"/>
            </a:avLst>
          </a:prstGeom>
          <a:solidFill>
            <a:srgbClr val="FFFFFF"/>
          </a:solidFill>
          <a:ln w="12700">
            <a:solidFill>
              <a:srgbClr val="C7CEDE"/>
            </a:solidFill>
            <a:prstDash val="solid"/>
          </a:ln>
        </p:spPr>
      </p:sp>
      <p:sp>
        <p:nvSpPr>
          <p:cNvPr id="16" name="Text 14"/>
          <p:cNvSpPr/>
          <p:nvPr/>
        </p:nvSpPr>
        <p:spPr>
          <a:xfrm>
            <a:off x="6355080" y="2286000"/>
            <a:ext cx="1645920" cy="365760"/>
          </a:xfrm>
          <a:prstGeom prst="rect">
            <a:avLst/>
          </a:prstGeom>
          <a:noFill/>
          <a:ln/>
        </p:spPr>
        <p:txBody>
          <a:bodyPr wrap="square" rtlCol="0" anchor="ctr"/>
          <a:lstStyle/>
          <a:p>
            <a:pPr algn="ctr" indent="0" marL="0">
              <a:buNone/>
            </a:pPr>
            <a:r>
              <a:rPr lang="en-US" sz="1200" b="1" dirty="0">
                <a:solidFill>
                  <a:srgbClr val="1E2761"/>
                </a:solidFill>
                <a:latin typeface="Cambria" pitchFamily="34" charset="0"/>
                <a:ea typeface="Cambria" pitchFamily="34" charset="-122"/>
                <a:cs typeface="Cambria" pitchFamily="34" charset="-120"/>
              </a:rPr>
              <a:t>Backend</a:t>
            </a:r>
            <a:endParaRPr lang="en-US" sz="1200" dirty="0"/>
          </a:p>
        </p:txBody>
      </p:sp>
      <p:sp>
        <p:nvSpPr>
          <p:cNvPr id="17" name="Text 15"/>
          <p:cNvSpPr/>
          <p:nvPr/>
        </p:nvSpPr>
        <p:spPr>
          <a:xfrm>
            <a:off x="6355080" y="2633472"/>
            <a:ext cx="1645920" cy="502920"/>
          </a:xfrm>
          <a:prstGeom prst="rect">
            <a:avLst/>
          </a:prstGeom>
          <a:noFill/>
          <a:ln/>
        </p:spPr>
        <p:txBody>
          <a:bodyPr wrap="square" rtlCol="0" anchor="t"/>
          <a:lstStyle/>
          <a:p>
            <a:pPr algn="ctr" indent="0" marL="0">
              <a:buNone/>
            </a:pPr>
            <a:r>
              <a:rPr lang="en-US" sz="950" dirty="0">
                <a:solidFill>
                  <a:srgbClr val="1E2761"/>
                </a:solidFill>
                <a:latin typeface="Calibri" pitchFamily="34" charset="0"/>
                <a:ea typeface="Calibri" pitchFamily="34" charset="-122"/>
                <a:cs typeface="Calibri" pitchFamily="34" charset="-120"/>
              </a:rPr>
              <a:t>FastAPI</a:t>
            </a:r>
            <a:endParaRPr lang="en-US" sz="950" dirty="0"/>
          </a:p>
          <a:p>
            <a:pPr algn="ctr" indent="0" marL="0">
              <a:buNone/>
            </a:pPr>
            <a:r>
              <a:rPr lang="en-US" sz="950" dirty="0">
                <a:solidFill>
                  <a:srgbClr val="1E2761"/>
                </a:solidFill>
                <a:latin typeface="Calibri" pitchFamily="34" charset="0"/>
                <a:ea typeface="Calibri" pitchFamily="34" charset="-122"/>
                <a:cs typeface="Calibri" pitchFamily="34" charset="-120"/>
              </a:rPr>
              <a:t>+ Pydantic</a:t>
            </a:r>
            <a:endParaRPr lang="en-US" sz="950" dirty="0"/>
          </a:p>
        </p:txBody>
      </p:sp>
      <p:sp>
        <p:nvSpPr>
          <p:cNvPr id="18" name="Shape 16"/>
          <p:cNvSpPr/>
          <p:nvPr/>
        </p:nvSpPr>
        <p:spPr>
          <a:xfrm>
            <a:off x="8321040" y="1417320"/>
            <a:ext cx="1600200" cy="1005840"/>
          </a:xfrm>
          <a:prstGeom prst="roundRect">
            <a:avLst>
              <a:gd name="adj" fmla="val 5455"/>
            </a:avLst>
          </a:prstGeom>
          <a:solidFill>
            <a:srgbClr val="CADCFC"/>
          </a:solidFill>
          <a:ln w="12700">
            <a:solidFill>
              <a:srgbClr val="C7CEDE"/>
            </a:solidFill>
            <a:prstDash val="solid"/>
          </a:ln>
        </p:spPr>
      </p:sp>
      <p:sp>
        <p:nvSpPr>
          <p:cNvPr id="19" name="Text 17"/>
          <p:cNvSpPr/>
          <p:nvPr/>
        </p:nvSpPr>
        <p:spPr>
          <a:xfrm>
            <a:off x="8366760" y="1508760"/>
            <a:ext cx="1508760" cy="365760"/>
          </a:xfrm>
          <a:prstGeom prst="rect">
            <a:avLst/>
          </a:prstGeom>
          <a:noFill/>
          <a:ln/>
        </p:spPr>
        <p:txBody>
          <a:bodyPr wrap="square" rtlCol="0" anchor="ctr"/>
          <a:lstStyle/>
          <a:p>
            <a:pPr algn="ctr" indent="0" marL="0">
              <a:buNone/>
            </a:pPr>
            <a:r>
              <a:rPr lang="en-US" sz="1200" b="1" dirty="0">
                <a:solidFill>
                  <a:srgbClr val="1E2761"/>
                </a:solidFill>
                <a:latin typeface="Cambria" pitchFamily="34" charset="0"/>
                <a:ea typeface="Cambria" pitchFamily="34" charset="-122"/>
                <a:cs typeface="Cambria" pitchFamily="34" charset="-120"/>
              </a:rPr>
              <a:t>Sisteme</a:t>
            </a:r>
            <a:endParaRPr lang="en-US" sz="1200" dirty="0"/>
          </a:p>
          <a:p>
            <a:pPr algn="ctr" indent="0" marL="0">
              <a:buNone/>
            </a:pPr>
            <a:r>
              <a:rPr lang="en-US" sz="1200" b="1" dirty="0">
                <a:solidFill>
                  <a:srgbClr val="1E2761"/>
                </a:solidFill>
                <a:latin typeface="Cambria" pitchFamily="34" charset="0"/>
                <a:ea typeface="Cambria" pitchFamily="34" charset="-122"/>
                <a:cs typeface="Cambria" pitchFamily="34" charset="-120"/>
              </a:rPr>
              <a:t>externe</a:t>
            </a:r>
            <a:endParaRPr lang="en-US" sz="1200" dirty="0"/>
          </a:p>
        </p:txBody>
      </p:sp>
      <p:sp>
        <p:nvSpPr>
          <p:cNvPr id="20" name="Text 18"/>
          <p:cNvSpPr/>
          <p:nvPr/>
        </p:nvSpPr>
        <p:spPr>
          <a:xfrm>
            <a:off x="8366760" y="1856232"/>
            <a:ext cx="1508760" cy="502920"/>
          </a:xfrm>
          <a:prstGeom prst="rect">
            <a:avLst/>
          </a:prstGeom>
          <a:noFill/>
          <a:ln/>
        </p:spPr>
        <p:txBody>
          <a:bodyPr wrap="square" rtlCol="0" anchor="t"/>
          <a:lstStyle/>
          <a:p>
            <a:pPr algn="ctr" indent="0" marL="0">
              <a:buNone/>
            </a:pPr>
            <a:r>
              <a:rPr lang="en-US" sz="950" dirty="0">
                <a:solidFill>
                  <a:srgbClr val="1E2761"/>
                </a:solidFill>
                <a:latin typeface="Calibri" pitchFamily="34" charset="0"/>
                <a:ea typeface="Calibri" pitchFamily="34" charset="-122"/>
                <a:cs typeface="Calibri" pitchFamily="34" charset="-120"/>
              </a:rPr>
              <a:t>Cozi / echipe</a:t>
            </a:r>
            <a:endParaRPr lang="en-US" sz="950" dirty="0"/>
          </a:p>
          <a:p>
            <a:pPr algn="ctr" indent="0" marL="0">
              <a:buNone/>
            </a:pPr>
            <a:r>
              <a:rPr lang="en-US" sz="950" dirty="0">
                <a:solidFill>
                  <a:srgbClr val="1E2761"/>
                </a:solidFill>
                <a:latin typeface="Calibri" pitchFamily="34" charset="0"/>
                <a:ea typeface="Calibri" pitchFamily="34" charset="-122"/>
                <a:cs typeface="Calibri" pitchFamily="34" charset="-120"/>
              </a:rPr>
              <a:t>țintă</a:t>
            </a:r>
            <a:endParaRPr lang="en-US" sz="950" dirty="0"/>
          </a:p>
        </p:txBody>
      </p:sp>
      <p:sp>
        <p:nvSpPr>
          <p:cNvPr id="21" name="Shape 19"/>
          <p:cNvSpPr/>
          <p:nvPr/>
        </p:nvSpPr>
        <p:spPr>
          <a:xfrm>
            <a:off x="8321040" y="2971800"/>
            <a:ext cx="1600200" cy="1005840"/>
          </a:xfrm>
          <a:prstGeom prst="roundRect">
            <a:avLst>
              <a:gd name="adj" fmla="val 5455"/>
            </a:avLst>
          </a:prstGeom>
          <a:solidFill>
            <a:srgbClr val="CADCFC"/>
          </a:solidFill>
          <a:ln w="12700">
            <a:solidFill>
              <a:srgbClr val="C7CEDE"/>
            </a:solidFill>
            <a:prstDash val="solid"/>
          </a:ln>
        </p:spPr>
      </p:sp>
      <p:sp>
        <p:nvSpPr>
          <p:cNvPr id="22" name="Text 20"/>
          <p:cNvSpPr/>
          <p:nvPr/>
        </p:nvSpPr>
        <p:spPr>
          <a:xfrm>
            <a:off x="8366760" y="3063240"/>
            <a:ext cx="1508760" cy="365760"/>
          </a:xfrm>
          <a:prstGeom prst="rect">
            <a:avLst/>
          </a:prstGeom>
          <a:noFill/>
          <a:ln/>
        </p:spPr>
        <p:txBody>
          <a:bodyPr wrap="square" rtlCol="0" anchor="ctr"/>
          <a:lstStyle/>
          <a:p>
            <a:pPr algn="ctr" indent="0" marL="0">
              <a:buNone/>
            </a:pPr>
            <a:r>
              <a:rPr lang="en-US" sz="1200" b="1" dirty="0">
                <a:solidFill>
                  <a:srgbClr val="1E2761"/>
                </a:solidFill>
                <a:latin typeface="Cambria" pitchFamily="34" charset="0"/>
                <a:ea typeface="Cambria" pitchFamily="34" charset="-122"/>
                <a:cs typeface="Cambria" pitchFamily="34" charset="-120"/>
              </a:rPr>
              <a:t>Output</a:t>
            </a:r>
            <a:endParaRPr lang="en-US" sz="1200" dirty="0"/>
          </a:p>
        </p:txBody>
      </p:sp>
      <p:sp>
        <p:nvSpPr>
          <p:cNvPr id="23" name="Text 21"/>
          <p:cNvSpPr/>
          <p:nvPr/>
        </p:nvSpPr>
        <p:spPr>
          <a:xfrm>
            <a:off x="8366760" y="3410712"/>
            <a:ext cx="1508760" cy="502920"/>
          </a:xfrm>
          <a:prstGeom prst="rect">
            <a:avLst/>
          </a:prstGeom>
          <a:noFill/>
          <a:ln/>
        </p:spPr>
        <p:txBody>
          <a:bodyPr wrap="square" rtlCol="0" anchor="t"/>
          <a:lstStyle/>
          <a:p>
            <a:pPr algn="ctr" indent="0" marL="0">
              <a:buNone/>
            </a:pPr>
            <a:r>
              <a:rPr lang="en-US" sz="950" dirty="0">
                <a:solidFill>
                  <a:srgbClr val="1E2761"/>
                </a:solidFill>
                <a:latin typeface="Calibri" pitchFamily="34" charset="0"/>
                <a:ea typeface="Calibri" pitchFamily="34" charset="-122"/>
                <a:cs typeface="Calibri" pitchFamily="34" charset="-120"/>
              </a:rPr>
              <a:t>Rutare +</a:t>
            </a:r>
            <a:endParaRPr lang="en-US" sz="950" dirty="0"/>
          </a:p>
          <a:p>
            <a:pPr algn="ctr" indent="0" marL="0">
              <a:buNone/>
            </a:pPr>
            <a:r>
              <a:rPr lang="en-US" sz="950" dirty="0">
                <a:solidFill>
                  <a:srgbClr val="1E2761"/>
                </a:solidFill>
                <a:latin typeface="Calibri" pitchFamily="34" charset="0"/>
                <a:ea typeface="Calibri" pitchFamily="34" charset="-122"/>
                <a:cs typeface="Calibri" pitchFamily="34" charset="-120"/>
              </a:rPr>
              <a:t>explicație</a:t>
            </a:r>
            <a:endParaRPr lang="en-US" sz="950" dirty="0"/>
          </a:p>
        </p:txBody>
      </p:sp>
      <p:sp>
        <p:nvSpPr>
          <p:cNvPr id="24" name="Shape 22"/>
          <p:cNvSpPr/>
          <p:nvPr/>
        </p:nvSpPr>
        <p:spPr>
          <a:xfrm>
            <a:off x="10195560" y="2194560"/>
            <a:ext cx="1463040" cy="1005840"/>
          </a:xfrm>
          <a:prstGeom prst="roundRect">
            <a:avLst>
              <a:gd name="adj" fmla="val 5455"/>
            </a:avLst>
          </a:prstGeom>
          <a:solidFill>
            <a:srgbClr val="3E5C9A"/>
          </a:solidFill>
          <a:ln w="12700">
            <a:solidFill>
              <a:srgbClr val="C7CEDE"/>
            </a:solidFill>
            <a:prstDash val="solid"/>
          </a:ln>
        </p:spPr>
      </p:sp>
      <p:sp>
        <p:nvSpPr>
          <p:cNvPr id="25" name="Text 23"/>
          <p:cNvSpPr/>
          <p:nvPr/>
        </p:nvSpPr>
        <p:spPr>
          <a:xfrm>
            <a:off x="10241280" y="2286000"/>
            <a:ext cx="1371600" cy="36576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Observabilitate</a:t>
            </a:r>
            <a:endParaRPr lang="en-US" sz="1200" dirty="0"/>
          </a:p>
        </p:txBody>
      </p:sp>
      <p:sp>
        <p:nvSpPr>
          <p:cNvPr id="26" name="Text 24"/>
          <p:cNvSpPr/>
          <p:nvPr/>
        </p:nvSpPr>
        <p:spPr>
          <a:xfrm>
            <a:off x="10241280" y="2633472"/>
            <a:ext cx="1371600" cy="502920"/>
          </a:xfrm>
          <a:prstGeom prst="rect">
            <a:avLst/>
          </a:prstGeom>
          <a:noFill/>
          <a:ln/>
        </p:spPr>
        <p:txBody>
          <a:bodyPr wrap="square" rtlCol="0" anchor="t"/>
          <a:lstStyle/>
          <a:p>
            <a:pPr algn="ctr" indent="0" marL="0">
              <a:buNone/>
            </a:pPr>
            <a:r>
              <a:rPr lang="en-US" sz="950" dirty="0">
                <a:solidFill>
                  <a:srgbClr val="FFFFFF"/>
                </a:solidFill>
                <a:latin typeface="Calibri" pitchFamily="34" charset="0"/>
                <a:ea typeface="Calibri" pitchFamily="34" charset="-122"/>
                <a:cs typeface="Calibri" pitchFamily="34" charset="-120"/>
              </a:rPr>
              <a:t>Arize Phoenix</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(audit trail)</a:t>
            </a:r>
            <a:endParaRPr lang="en-US" sz="950" dirty="0"/>
          </a:p>
        </p:txBody>
      </p:sp>
      <p:sp>
        <p:nvSpPr>
          <p:cNvPr id="27" name="Shape 25"/>
          <p:cNvSpPr/>
          <p:nvPr/>
        </p:nvSpPr>
        <p:spPr>
          <a:xfrm>
            <a:off x="2148840" y="2697480"/>
            <a:ext cx="137160" cy="0"/>
          </a:xfrm>
          <a:prstGeom prst="line">
            <a:avLst/>
          </a:prstGeom>
          <a:noFill/>
          <a:ln w="25400">
            <a:solidFill>
              <a:srgbClr val="3E5C9A"/>
            </a:solidFill>
            <a:prstDash val="solid"/>
          </a:ln>
        </p:spPr>
      </p:sp>
      <p:sp>
        <p:nvSpPr>
          <p:cNvPr id="28" name="Shape 26"/>
          <p:cNvSpPr/>
          <p:nvPr/>
        </p:nvSpPr>
        <p:spPr>
          <a:xfrm>
            <a:off x="2286000" y="1920240"/>
            <a:ext cx="0" cy="777240"/>
          </a:xfrm>
          <a:prstGeom prst="line">
            <a:avLst/>
          </a:prstGeom>
          <a:noFill/>
          <a:ln w="25400">
            <a:solidFill>
              <a:srgbClr val="3E5C9A"/>
            </a:solidFill>
            <a:prstDash val="solid"/>
          </a:ln>
        </p:spPr>
      </p:sp>
      <p:sp>
        <p:nvSpPr>
          <p:cNvPr id="29" name="Shape 27"/>
          <p:cNvSpPr/>
          <p:nvPr/>
        </p:nvSpPr>
        <p:spPr>
          <a:xfrm>
            <a:off x="2286000" y="1920240"/>
            <a:ext cx="137160" cy="0"/>
          </a:xfrm>
          <a:prstGeom prst="line">
            <a:avLst/>
          </a:prstGeom>
          <a:noFill/>
          <a:ln w="25400">
            <a:solidFill>
              <a:srgbClr val="3E5C9A"/>
            </a:solidFill>
            <a:prstDash val="solid"/>
            <a:tailEnd type="triangle"/>
          </a:ln>
        </p:spPr>
      </p:sp>
      <p:sp>
        <p:nvSpPr>
          <p:cNvPr id="30" name="Shape 28"/>
          <p:cNvSpPr/>
          <p:nvPr/>
        </p:nvSpPr>
        <p:spPr>
          <a:xfrm>
            <a:off x="2148840" y="2697480"/>
            <a:ext cx="137160" cy="0"/>
          </a:xfrm>
          <a:prstGeom prst="line">
            <a:avLst/>
          </a:prstGeom>
          <a:noFill/>
          <a:ln w="25400">
            <a:solidFill>
              <a:srgbClr val="3E5C9A"/>
            </a:solidFill>
            <a:prstDash val="solid"/>
          </a:ln>
        </p:spPr>
      </p:sp>
      <p:sp>
        <p:nvSpPr>
          <p:cNvPr id="31" name="Shape 29"/>
          <p:cNvSpPr/>
          <p:nvPr/>
        </p:nvSpPr>
        <p:spPr>
          <a:xfrm>
            <a:off x="2286000" y="2697480"/>
            <a:ext cx="0" cy="777240"/>
          </a:xfrm>
          <a:prstGeom prst="line">
            <a:avLst/>
          </a:prstGeom>
          <a:noFill/>
          <a:ln w="25400">
            <a:solidFill>
              <a:srgbClr val="3E5C9A"/>
            </a:solidFill>
            <a:prstDash val="solid"/>
          </a:ln>
        </p:spPr>
      </p:sp>
      <p:sp>
        <p:nvSpPr>
          <p:cNvPr id="32" name="Shape 30"/>
          <p:cNvSpPr/>
          <p:nvPr/>
        </p:nvSpPr>
        <p:spPr>
          <a:xfrm>
            <a:off x="2286000" y="3474720"/>
            <a:ext cx="137160" cy="0"/>
          </a:xfrm>
          <a:prstGeom prst="line">
            <a:avLst/>
          </a:prstGeom>
          <a:noFill/>
          <a:ln w="25400">
            <a:solidFill>
              <a:srgbClr val="3E5C9A"/>
            </a:solidFill>
            <a:prstDash val="solid"/>
            <a:tailEnd type="triangle"/>
          </a:ln>
        </p:spPr>
      </p:sp>
      <p:sp>
        <p:nvSpPr>
          <p:cNvPr id="33" name="Shape 31"/>
          <p:cNvSpPr/>
          <p:nvPr/>
        </p:nvSpPr>
        <p:spPr>
          <a:xfrm>
            <a:off x="4023360" y="1920240"/>
            <a:ext cx="137160" cy="0"/>
          </a:xfrm>
          <a:prstGeom prst="line">
            <a:avLst/>
          </a:prstGeom>
          <a:noFill/>
          <a:ln w="25400">
            <a:solidFill>
              <a:srgbClr val="3E5C9A"/>
            </a:solidFill>
            <a:prstDash val="solid"/>
          </a:ln>
        </p:spPr>
      </p:sp>
      <p:sp>
        <p:nvSpPr>
          <p:cNvPr id="34" name="Shape 32"/>
          <p:cNvSpPr/>
          <p:nvPr/>
        </p:nvSpPr>
        <p:spPr>
          <a:xfrm>
            <a:off x="4160520" y="1920240"/>
            <a:ext cx="0" cy="777240"/>
          </a:xfrm>
          <a:prstGeom prst="line">
            <a:avLst/>
          </a:prstGeom>
          <a:noFill/>
          <a:ln w="25400">
            <a:solidFill>
              <a:srgbClr val="3E5C9A"/>
            </a:solidFill>
            <a:prstDash val="solid"/>
          </a:ln>
        </p:spPr>
      </p:sp>
      <p:sp>
        <p:nvSpPr>
          <p:cNvPr id="35" name="Shape 33"/>
          <p:cNvSpPr/>
          <p:nvPr/>
        </p:nvSpPr>
        <p:spPr>
          <a:xfrm>
            <a:off x="4160520" y="2697480"/>
            <a:ext cx="137160" cy="0"/>
          </a:xfrm>
          <a:prstGeom prst="line">
            <a:avLst/>
          </a:prstGeom>
          <a:noFill/>
          <a:ln w="25400">
            <a:solidFill>
              <a:srgbClr val="3E5C9A"/>
            </a:solidFill>
            <a:prstDash val="solid"/>
            <a:tailEnd type="triangle"/>
          </a:ln>
        </p:spPr>
      </p:sp>
      <p:sp>
        <p:nvSpPr>
          <p:cNvPr id="36" name="Shape 34"/>
          <p:cNvSpPr/>
          <p:nvPr/>
        </p:nvSpPr>
        <p:spPr>
          <a:xfrm>
            <a:off x="4023360" y="3474720"/>
            <a:ext cx="137160" cy="0"/>
          </a:xfrm>
          <a:prstGeom prst="line">
            <a:avLst/>
          </a:prstGeom>
          <a:noFill/>
          <a:ln w="25400">
            <a:solidFill>
              <a:srgbClr val="3E5C9A"/>
            </a:solidFill>
            <a:prstDash val="solid"/>
          </a:ln>
        </p:spPr>
      </p:sp>
      <p:sp>
        <p:nvSpPr>
          <p:cNvPr id="37" name="Shape 35"/>
          <p:cNvSpPr/>
          <p:nvPr/>
        </p:nvSpPr>
        <p:spPr>
          <a:xfrm>
            <a:off x="4160520" y="2697480"/>
            <a:ext cx="0" cy="777240"/>
          </a:xfrm>
          <a:prstGeom prst="line">
            <a:avLst/>
          </a:prstGeom>
          <a:noFill/>
          <a:ln w="25400">
            <a:solidFill>
              <a:srgbClr val="3E5C9A"/>
            </a:solidFill>
            <a:prstDash val="solid"/>
          </a:ln>
        </p:spPr>
      </p:sp>
      <p:sp>
        <p:nvSpPr>
          <p:cNvPr id="38" name="Shape 36"/>
          <p:cNvSpPr/>
          <p:nvPr/>
        </p:nvSpPr>
        <p:spPr>
          <a:xfrm>
            <a:off x="4160520" y="2697480"/>
            <a:ext cx="137160" cy="0"/>
          </a:xfrm>
          <a:prstGeom prst="line">
            <a:avLst/>
          </a:prstGeom>
          <a:noFill/>
          <a:ln w="25400">
            <a:solidFill>
              <a:srgbClr val="3E5C9A"/>
            </a:solidFill>
            <a:prstDash val="solid"/>
            <a:tailEnd type="triangle"/>
          </a:ln>
        </p:spPr>
      </p:sp>
      <p:sp>
        <p:nvSpPr>
          <p:cNvPr id="39" name="Shape 37"/>
          <p:cNvSpPr/>
          <p:nvPr/>
        </p:nvSpPr>
        <p:spPr>
          <a:xfrm>
            <a:off x="6035040" y="2697480"/>
            <a:ext cx="274320" cy="0"/>
          </a:xfrm>
          <a:prstGeom prst="line">
            <a:avLst/>
          </a:prstGeom>
          <a:noFill/>
          <a:ln w="25400">
            <a:solidFill>
              <a:srgbClr val="3E5C9A"/>
            </a:solidFill>
            <a:prstDash val="solid"/>
            <a:tailEnd type="triangle"/>
          </a:ln>
        </p:spPr>
      </p:sp>
      <p:sp>
        <p:nvSpPr>
          <p:cNvPr id="40" name="Shape 38"/>
          <p:cNvSpPr/>
          <p:nvPr/>
        </p:nvSpPr>
        <p:spPr>
          <a:xfrm>
            <a:off x="8046720" y="2697480"/>
            <a:ext cx="137160" cy="0"/>
          </a:xfrm>
          <a:prstGeom prst="line">
            <a:avLst/>
          </a:prstGeom>
          <a:noFill/>
          <a:ln w="25400">
            <a:solidFill>
              <a:srgbClr val="3E5C9A"/>
            </a:solidFill>
            <a:prstDash val="solid"/>
          </a:ln>
        </p:spPr>
      </p:sp>
      <p:sp>
        <p:nvSpPr>
          <p:cNvPr id="41" name="Shape 39"/>
          <p:cNvSpPr/>
          <p:nvPr/>
        </p:nvSpPr>
        <p:spPr>
          <a:xfrm>
            <a:off x="8183880" y="1920240"/>
            <a:ext cx="0" cy="777240"/>
          </a:xfrm>
          <a:prstGeom prst="line">
            <a:avLst/>
          </a:prstGeom>
          <a:noFill/>
          <a:ln w="25400">
            <a:solidFill>
              <a:srgbClr val="3E5C9A"/>
            </a:solidFill>
            <a:prstDash val="solid"/>
          </a:ln>
        </p:spPr>
      </p:sp>
      <p:sp>
        <p:nvSpPr>
          <p:cNvPr id="42" name="Shape 40"/>
          <p:cNvSpPr/>
          <p:nvPr/>
        </p:nvSpPr>
        <p:spPr>
          <a:xfrm>
            <a:off x="8183880" y="1920240"/>
            <a:ext cx="137160" cy="0"/>
          </a:xfrm>
          <a:prstGeom prst="line">
            <a:avLst/>
          </a:prstGeom>
          <a:noFill/>
          <a:ln w="25400">
            <a:solidFill>
              <a:srgbClr val="3E5C9A"/>
            </a:solidFill>
            <a:prstDash val="solid"/>
            <a:tailEnd type="triangle"/>
          </a:ln>
        </p:spPr>
      </p:sp>
      <p:sp>
        <p:nvSpPr>
          <p:cNvPr id="43" name="Shape 41"/>
          <p:cNvSpPr/>
          <p:nvPr/>
        </p:nvSpPr>
        <p:spPr>
          <a:xfrm>
            <a:off x="8046720" y="2697480"/>
            <a:ext cx="137160" cy="0"/>
          </a:xfrm>
          <a:prstGeom prst="line">
            <a:avLst/>
          </a:prstGeom>
          <a:noFill/>
          <a:ln w="25400">
            <a:solidFill>
              <a:srgbClr val="3E5C9A"/>
            </a:solidFill>
            <a:prstDash val="solid"/>
          </a:ln>
        </p:spPr>
      </p:sp>
      <p:sp>
        <p:nvSpPr>
          <p:cNvPr id="44" name="Shape 42"/>
          <p:cNvSpPr/>
          <p:nvPr/>
        </p:nvSpPr>
        <p:spPr>
          <a:xfrm>
            <a:off x="8183880" y="2697480"/>
            <a:ext cx="0" cy="777240"/>
          </a:xfrm>
          <a:prstGeom prst="line">
            <a:avLst/>
          </a:prstGeom>
          <a:noFill/>
          <a:ln w="25400">
            <a:solidFill>
              <a:srgbClr val="3E5C9A"/>
            </a:solidFill>
            <a:prstDash val="solid"/>
          </a:ln>
        </p:spPr>
      </p:sp>
      <p:sp>
        <p:nvSpPr>
          <p:cNvPr id="45" name="Shape 43"/>
          <p:cNvSpPr/>
          <p:nvPr/>
        </p:nvSpPr>
        <p:spPr>
          <a:xfrm>
            <a:off x="8183880" y="3474720"/>
            <a:ext cx="137160" cy="0"/>
          </a:xfrm>
          <a:prstGeom prst="line">
            <a:avLst/>
          </a:prstGeom>
          <a:noFill/>
          <a:ln w="25400">
            <a:solidFill>
              <a:srgbClr val="3E5C9A"/>
            </a:solidFill>
            <a:prstDash val="solid"/>
            <a:tailEnd type="triangle"/>
          </a:ln>
        </p:spPr>
      </p:sp>
      <p:sp>
        <p:nvSpPr>
          <p:cNvPr id="46" name="Shape 44"/>
          <p:cNvSpPr/>
          <p:nvPr/>
        </p:nvSpPr>
        <p:spPr>
          <a:xfrm>
            <a:off x="9921240" y="1920240"/>
            <a:ext cx="137160" cy="0"/>
          </a:xfrm>
          <a:prstGeom prst="line">
            <a:avLst/>
          </a:prstGeom>
          <a:noFill/>
          <a:ln w="25400">
            <a:solidFill>
              <a:srgbClr val="3E5C9A"/>
            </a:solidFill>
            <a:prstDash val="solid"/>
          </a:ln>
        </p:spPr>
      </p:sp>
      <p:sp>
        <p:nvSpPr>
          <p:cNvPr id="47" name="Shape 45"/>
          <p:cNvSpPr/>
          <p:nvPr/>
        </p:nvSpPr>
        <p:spPr>
          <a:xfrm>
            <a:off x="10058400" y="1920240"/>
            <a:ext cx="0" cy="777240"/>
          </a:xfrm>
          <a:prstGeom prst="line">
            <a:avLst/>
          </a:prstGeom>
          <a:noFill/>
          <a:ln w="25400">
            <a:solidFill>
              <a:srgbClr val="3E5C9A"/>
            </a:solidFill>
            <a:prstDash val="solid"/>
          </a:ln>
        </p:spPr>
      </p:sp>
      <p:sp>
        <p:nvSpPr>
          <p:cNvPr id="48" name="Shape 46"/>
          <p:cNvSpPr/>
          <p:nvPr/>
        </p:nvSpPr>
        <p:spPr>
          <a:xfrm>
            <a:off x="10058400" y="2697480"/>
            <a:ext cx="137160" cy="0"/>
          </a:xfrm>
          <a:prstGeom prst="line">
            <a:avLst/>
          </a:prstGeom>
          <a:noFill/>
          <a:ln w="25400">
            <a:solidFill>
              <a:srgbClr val="3E5C9A"/>
            </a:solidFill>
            <a:prstDash val="solid"/>
            <a:tailEnd type="triangle"/>
          </a:ln>
        </p:spPr>
      </p:sp>
      <p:sp>
        <p:nvSpPr>
          <p:cNvPr id="49" name="Shape 47"/>
          <p:cNvSpPr/>
          <p:nvPr/>
        </p:nvSpPr>
        <p:spPr>
          <a:xfrm>
            <a:off x="9921240" y="3474720"/>
            <a:ext cx="137160" cy="0"/>
          </a:xfrm>
          <a:prstGeom prst="line">
            <a:avLst/>
          </a:prstGeom>
          <a:noFill/>
          <a:ln w="25400">
            <a:solidFill>
              <a:srgbClr val="3E5C9A"/>
            </a:solidFill>
            <a:prstDash val="solid"/>
          </a:ln>
        </p:spPr>
      </p:sp>
      <p:sp>
        <p:nvSpPr>
          <p:cNvPr id="50" name="Shape 48"/>
          <p:cNvSpPr/>
          <p:nvPr/>
        </p:nvSpPr>
        <p:spPr>
          <a:xfrm>
            <a:off x="10058400" y="2697480"/>
            <a:ext cx="0" cy="777240"/>
          </a:xfrm>
          <a:prstGeom prst="line">
            <a:avLst/>
          </a:prstGeom>
          <a:noFill/>
          <a:ln w="25400">
            <a:solidFill>
              <a:srgbClr val="3E5C9A"/>
            </a:solidFill>
            <a:prstDash val="solid"/>
          </a:ln>
        </p:spPr>
      </p:sp>
      <p:sp>
        <p:nvSpPr>
          <p:cNvPr id="51" name="Shape 49"/>
          <p:cNvSpPr/>
          <p:nvPr/>
        </p:nvSpPr>
        <p:spPr>
          <a:xfrm>
            <a:off x="10058400" y="2697480"/>
            <a:ext cx="137160" cy="0"/>
          </a:xfrm>
          <a:prstGeom prst="line">
            <a:avLst/>
          </a:prstGeom>
          <a:noFill/>
          <a:ln w="25400">
            <a:solidFill>
              <a:srgbClr val="3E5C9A"/>
            </a:solidFill>
            <a:prstDash val="solid"/>
            <a:tailEnd type="triangle"/>
          </a:ln>
        </p:spPr>
      </p:sp>
      <p:sp>
        <p:nvSpPr>
          <p:cNvPr id="52" name="Shape 50"/>
          <p:cNvSpPr/>
          <p:nvPr/>
        </p:nvSpPr>
        <p:spPr>
          <a:xfrm>
            <a:off x="548640" y="4251960"/>
            <a:ext cx="11109960" cy="1600200"/>
          </a:xfrm>
          <a:prstGeom prst="roundRect">
            <a:avLst>
              <a:gd name="adj" fmla="val 4571"/>
            </a:avLst>
          </a:prstGeom>
          <a:solidFill>
            <a:srgbClr val="FFFFFF"/>
          </a:solidFill>
          <a:ln w="12700">
            <a:solidFill>
              <a:srgbClr val="D9DEEB"/>
            </a:solidFill>
            <a:prstDash val="solid"/>
          </a:ln>
        </p:spPr>
      </p:sp>
      <p:sp>
        <p:nvSpPr>
          <p:cNvPr id="53" name="Text 51"/>
          <p:cNvSpPr/>
          <p:nvPr/>
        </p:nvSpPr>
        <p:spPr>
          <a:xfrm>
            <a:off x="868680" y="4434840"/>
            <a:ext cx="10515600" cy="1234440"/>
          </a:xfrm>
          <a:prstGeom prst="rect">
            <a:avLst/>
          </a:prstGeom>
          <a:noFill/>
          <a:ln/>
        </p:spPr>
        <p:txBody>
          <a:bodyPr wrap="square" rtlCol="0" anchor="t"/>
          <a:lstStyle/>
          <a:p>
            <a:pPr indent="0" marL="0">
              <a:lnSpc>
                <a:spcPct val="125000"/>
              </a:lnSpc>
              <a:buNone/>
            </a:pPr>
            <a:r>
              <a:rPr lang="en-US" sz="1350" b="1" dirty="0">
                <a:solidFill>
                  <a:srgbClr val="1E2761"/>
                </a:solidFill>
                <a:latin typeface="Calibri" pitchFamily="34" charset="0"/>
                <a:ea typeface="Calibri" pitchFamily="34" charset="-122"/>
                <a:cs typeface="Calibri" pitchFamily="34" charset="-120"/>
              </a:rPr>
              <a:t>Separare reasoning / execuție:  </a:t>
            </a:r>
            <a:pPr indent="0" marL="0">
              <a:lnSpc>
                <a:spcPct val="125000"/>
              </a:lnSpc>
              <a:buNone/>
            </a:pPr>
            <a:r>
              <a:rPr lang="en-US" sz="1350" dirty="0">
                <a:solidFill>
                  <a:srgbClr val="24262E"/>
                </a:solidFill>
                <a:latin typeface="Calibri" pitchFamily="34" charset="0"/>
                <a:ea typeface="Calibri" pitchFamily="34" charset="-122"/>
                <a:cs typeface="Calibri" pitchFamily="34" charset="-120"/>
              </a:rPr>
              <a:t>LLM-ul propune un obiect JSON (TicketClassification), niciodată nu execută direct. </a:t>
            </a:r>
            <a:pPr indent="0" marL="0">
              <a:lnSpc>
                <a:spcPct val="125000"/>
              </a:lnSpc>
              <a:buNone/>
            </a:pPr>
            <a:r>
              <a:rPr lang="en-US" sz="1350" dirty="0">
                <a:solidFill>
                  <a:srgbClr val="24262E"/>
                </a:solidFill>
                <a:latin typeface="Calibri" pitchFamily="34" charset="0"/>
                <a:ea typeface="Calibri" pitchFamily="34" charset="-122"/>
                <a:cs typeface="Calibri" pitchFamily="34" charset="-120"/>
              </a:rPr>
              <a:t>Execuția (rutare) trece mereu prin tool-uri deterministe cu validare Pydantic </a:t>
            </a:r>
            <a:pPr indent="0" marL="0">
              <a:lnSpc>
                <a:spcPct val="125000"/>
              </a:lnSpc>
              <a:buNone/>
            </a:pPr>
            <a:r>
              <a:rPr lang="en-US" sz="1350" dirty="0">
                <a:solidFill>
                  <a:srgbClr val="24262E"/>
                </a:solidFill>
                <a:latin typeface="Calibri" pitchFamily="34" charset="0"/>
                <a:ea typeface="Calibri" pitchFamily="34" charset="-122"/>
                <a:cs typeface="Calibri" pitchFamily="34" charset="-120"/>
              </a:rPr>
              <a:t>și, pentru cazuri riscante, prin aprobare umană explicită.</a:t>
            </a:r>
            <a:endParaRPr lang="en-US" sz="1350" dirty="0"/>
          </a:p>
        </p:txBody>
      </p:sp>
      <p:sp>
        <p:nvSpPr>
          <p:cNvPr id="54" name="Text 52"/>
          <p:cNvSpPr/>
          <p:nvPr/>
        </p:nvSpPr>
        <p:spPr>
          <a:xfrm>
            <a:off x="11521440" y="6446520"/>
            <a:ext cx="457200" cy="320040"/>
          </a:xfrm>
          <a:prstGeom prst="rect">
            <a:avLst/>
          </a:prstGeom>
          <a:noFill/>
          <a:ln/>
        </p:spPr>
        <p:txBody>
          <a:bodyPr wrap="square" rtlCol="0" anchor="ctr"/>
          <a:lstStyle/>
          <a:p>
            <a:pPr algn="r" indent="0" marL="0">
              <a:buNone/>
            </a:pPr>
            <a:r>
              <a:rPr lang="en-US" sz="1000" dirty="0">
                <a:solidFill>
                  <a:srgbClr val="6B70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502920"/>
            <a:ext cx="10515600" cy="640080"/>
          </a:xfrm>
          <a:prstGeom prst="rect">
            <a:avLst/>
          </a:prstGeom>
          <a:noFill/>
          <a:ln/>
        </p:spPr>
        <p:txBody>
          <a:bodyPr wrap="square" rtlCol="0" anchor="ctr"/>
          <a:lstStyle/>
          <a:p>
            <a:pPr indent="0" marL="0">
              <a:buNone/>
            </a:pPr>
            <a:r>
              <a:rPr lang="en-US" sz="3000" b="1" dirty="0">
                <a:solidFill>
                  <a:srgbClr val="24262E"/>
                </a:solidFill>
                <a:latin typeface="Cambria" pitchFamily="34" charset="0"/>
                <a:ea typeface="Cambria" pitchFamily="34" charset="-122"/>
                <a:cs typeface="Cambria" pitchFamily="34" charset="-120"/>
              </a:rPr>
              <a:t>Date &amp; gândire RAG</a:t>
            </a:r>
            <a:endParaRPr lang="en-US" sz="3000" dirty="0"/>
          </a:p>
        </p:txBody>
      </p:sp>
      <p:sp>
        <p:nvSpPr>
          <p:cNvPr id="3" name="Text 1"/>
          <p:cNvSpPr/>
          <p:nvPr/>
        </p:nvSpPr>
        <p:spPr>
          <a:xfrm>
            <a:off x="548640" y="1463040"/>
            <a:ext cx="4572000" cy="36576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Entități principale</a:t>
            </a:r>
            <a:endParaRPr lang="en-US" sz="1500" dirty="0"/>
          </a:p>
        </p:txBody>
      </p:sp>
      <p:sp>
        <p:nvSpPr>
          <p:cNvPr id="4" name="Shape 2"/>
          <p:cNvSpPr/>
          <p:nvPr/>
        </p:nvSpPr>
        <p:spPr>
          <a:xfrm>
            <a:off x="548640" y="1874520"/>
            <a:ext cx="5440680" cy="777240"/>
          </a:xfrm>
          <a:prstGeom prst="roundRect">
            <a:avLst>
              <a:gd name="adj" fmla="val 7059"/>
            </a:avLst>
          </a:prstGeom>
          <a:solidFill>
            <a:srgbClr val="FFFFFF"/>
          </a:solidFill>
          <a:ln w="12700">
            <a:solidFill>
              <a:srgbClr val="D9DEEB"/>
            </a:solidFill>
            <a:prstDash val="solid"/>
          </a:ln>
        </p:spPr>
      </p:sp>
      <p:sp>
        <p:nvSpPr>
          <p:cNvPr id="5" name="Text 3"/>
          <p:cNvSpPr/>
          <p:nvPr/>
        </p:nvSpPr>
        <p:spPr>
          <a:xfrm>
            <a:off x="731520" y="1947672"/>
            <a:ext cx="1371600" cy="640080"/>
          </a:xfrm>
          <a:prstGeom prst="rect">
            <a:avLst/>
          </a:prstGeom>
          <a:noFill/>
          <a:ln/>
        </p:spPr>
        <p:txBody>
          <a:bodyPr wrap="square" rtlCol="0" anchor="ctr"/>
          <a:lstStyle/>
          <a:p>
            <a:pPr indent="0" marL="0">
              <a:buNone/>
            </a:pPr>
            <a:r>
              <a:rPr lang="en-US" sz="1250" b="1" dirty="0">
                <a:solidFill>
                  <a:srgbClr val="3E5C9A"/>
                </a:solidFill>
                <a:latin typeface="Cambria" pitchFamily="34" charset="0"/>
                <a:ea typeface="Cambria" pitchFamily="34" charset="-122"/>
                <a:cs typeface="Cambria" pitchFamily="34" charset="-120"/>
              </a:rPr>
              <a:t>Tichet</a:t>
            </a:r>
            <a:endParaRPr lang="en-US" sz="1250" dirty="0"/>
          </a:p>
        </p:txBody>
      </p:sp>
      <p:sp>
        <p:nvSpPr>
          <p:cNvPr id="6" name="Text 4"/>
          <p:cNvSpPr/>
          <p:nvPr/>
        </p:nvSpPr>
        <p:spPr>
          <a:xfrm>
            <a:off x="2011680" y="1947672"/>
            <a:ext cx="3886200" cy="640080"/>
          </a:xfrm>
          <a:prstGeom prst="rect">
            <a:avLst/>
          </a:prstGeom>
          <a:noFill/>
          <a:ln/>
        </p:spPr>
        <p:txBody>
          <a:bodyPr wrap="square" rtlCol="0" anchor="ctr"/>
          <a:lstStyle/>
          <a:p>
            <a:pPr indent="0" marL="0">
              <a:buNone/>
            </a:pPr>
            <a:r>
              <a:rPr lang="en-US" sz="1000" dirty="0">
                <a:solidFill>
                  <a:srgbClr val="24262E"/>
                </a:solidFill>
                <a:latin typeface="Calibri" pitchFamily="34" charset="0"/>
                <a:ea typeface="Calibri" pitchFamily="34" charset="-122"/>
                <a:cs typeface="Calibri" pitchFamily="34" charset="-120"/>
              </a:rPr>
              <a:t>id, subject, description, reporter_role, system_affected, true_priority/category/team</a:t>
            </a:r>
            <a:endParaRPr lang="en-US" sz="1000" dirty="0"/>
          </a:p>
        </p:txBody>
      </p:sp>
      <p:sp>
        <p:nvSpPr>
          <p:cNvPr id="7" name="Shape 5"/>
          <p:cNvSpPr/>
          <p:nvPr/>
        </p:nvSpPr>
        <p:spPr>
          <a:xfrm>
            <a:off x="548640" y="2788920"/>
            <a:ext cx="5440680" cy="777240"/>
          </a:xfrm>
          <a:prstGeom prst="roundRect">
            <a:avLst>
              <a:gd name="adj" fmla="val 7059"/>
            </a:avLst>
          </a:prstGeom>
          <a:solidFill>
            <a:srgbClr val="FFFFFF"/>
          </a:solidFill>
          <a:ln w="12700">
            <a:solidFill>
              <a:srgbClr val="D9DEEB"/>
            </a:solidFill>
            <a:prstDash val="solid"/>
          </a:ln>
        </p:spPr>
      </p:sp>
      <p:sp>
        <p:nvSpPr>
          <p:cNvPr id="8" name="Text 6"/>
          <p:cNvSpPr/>
          <p:nvPr/>
        </p:nvSpPr>
        <p:spPr>
          <a:xfrm>
            <a:off x="731520" y="2862072"/>
            <a:ext cx="1371600" cy="640080"/>
          </a:xfrm>
          <a:prstGeom prst="rect">
            <a:avLst/>
          </a:prstGeom>
          <a:noFill/>
          <a:ln/>
        </p:spPr>
        <p:txBody>
          <a:bodyPr wrap="square" rtlCol="0" anchor="ctr"/>
          <a:lstStyle/>
          <a:p>
            <a:pPr indent="0" marL="0">
              <a:buNone/>
            </a:pPr>
            <a:r>
              <a:rPr lang="en-US" sz="1250" b="1" dirty="0">
                <a:solidFill>
                  <a:srgbClr val="3E5C9A"/>
                </a:solidFill>
                <a:latin typeface="Cambria" pitchFamily="34" charset="0"/>
                <a:ea typeface="Cambria" pitchFamily="34" charset="-122"/>
                <a:cs typeface="Cambria" pitchFamily="34" charset="-120"/>
              </a:rPr>
              <a:t>Document KB</a:t>
            </a:r>
            <a:endParaRPr lang="en-US" sz="1250" dirty="0"/>
          </a:p>
        </p:txBody>
      </p:sp>
      <p:sp>
        <p:nvSpPr>
          <p:cNvPr id="9" name="Text 7"/>
          <p:cNvSpPr/>
          <p:nvPr/>
        </p:nvSpPr>
        <p:spPr>
          <a:xfrm>
            <a:off x="2011680" y="2862072"/>
            <a:ext cx="3886200" cy="640080"/>
          </a:xfrm>
          <a:prstGeom prst="rect">
            <a:avLst/>
          </a:prstGeom>
          <a:noFill/>
          <a:ln/>
        </p:spPr>
        <p:txBody>
          <a:bodyPr wrap="square" rtlCol="0" anchor="ctr"/>
          <a:lstStyle/>
          <a:p>
            <a:pPr indent="0" marL="0">
              <a:buNone/>
            </a:pPr>
            <a:r>
              <a:rPr lang="en-US" sz="1000" dirty="0">
                <a:solidFill>
                  <a:srgbClr val="24262E"/>
                </a:solidFill>
                <a:latin typeface="Calibri" pitchFamily="34" charset="0"/>
                <a:ea typeface="Calibri" pitchFamily="34" charset="-122"/>
                <a:cs typeface="Calibri" pitchFamily="34" charset="-120"/>
              </a:rPr>
              <a:t>doc_id, title, content, category, embedding</a:t>
            </a:r>
            <a:endParaRPr lang="en-US" sz="1000" dirty="0"/>
          </a:p>
        </p:txBody>
      </p:sp>
      <p:sp>
        <p:nvSpPr>
          <p:cNvPr id="10" name="Text 8"/>
          <p:cNvSpPr/>
          <p:nvPr/>
        </p:nvSpPr>
        <p:spPr>
          <a:xfrm>
            <a:off x="548640" y="3794760"/>
            <a:ext cx="4572000" cy="36576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Strategie date mock</a:t>
            </a:r>
            <a:endParaRPr lang="en-US" sz="1500" dirty="0"/>
          </a:p>
        </p:txBody>
      </p:sp>
      <p:sp>
        <p:nvSpPr>
          <p:cNvPr id="11" name="Text 9"/>
          <p:cNvSpPr/>
          <p:nvPr/>
        </p:nvSpPr>
        <p:spPr>
          <a:xfrm>
            <a:off x="548640" y="4206240"/>
            <a:ext cx="5394960" cy="1645920"/>
          </a:xfrm>
          <a:prstGeom prst="rect">
            <a:avLst/>
          </a:prstGeom>
          <a:noFill/>
          <a:ln/>
        </p:spPr>
        <p:txBody>
          <a:bodyPr wrap="square" rtlCol="0" anchor="t"/>
          <a:lstStyle/>
          <a:p>
            <a:pPr marL="342900" indent="-342900">
              <a:spcAft>
                <a:spcPts val="600"/>
              </a:spcAft>
              <a:buSzPct val="100000"/>
              <a:buChar char="•"/>
            </a:pPr>
            <a:r>
              <a:rPr lang="en-US" sz="1250" dirty="0">
                <a:solidFill>
                  <a:srgbClr val="24262E"/>
                </a:solidFill>
                <a:latin typeface="Calibri" pitchFamily="34" charset="0"/>
                <a:ea typeface="Calibri" pitchFamily="34" charset="-122"/>
                <a:cs typeface="Calibri" pitchFamily="34" charset="-120"/>
              </a:rPr>
              <a:t>200–500 tichete, generate cu LLM (Groq, gratis)</a:t>
            </a:r>
            <a:endParaRPr lang="en-US" sz="1250" dirty="0"/>
          </a:p>
          <a:p>
            <a:pPr marL="342900" indent="-342900">
              <a:spcAft>
                <a:spcPts val="600"/>
              </a:spcAft>
              <a:buSzPct val="100000"/>
              <a:buChar char="•"/>
            </a:pPr>
            <a:r>
              <a:rPr lang="en-US" sz="1250" dirty="0">
                <a:solidFill>
                  <a:srgbClr val="24262E"/>
                </a:solidFill>
                <a:latin typeface="Calibri" pitchFamily="34" charset="0"/>
                <a:ea typeface="Calibri" pitchFamily="34" charset="-122"/>
                <a:cs typeface="Calibri" pitchFamily="34" charset="-120"/>
              </a:rPr>
              <a:t>Distribuție realistă: P1 ~5%, P2 ~15%, P3/P4 ~80%</a:t>
            </a:r>
            <a:endParaRPr lang="en-US" sz="1250" dirty="0"/>
          </a:p>
          <a:p>
            <a:pPr marL="342900" indent="-342900">
              <a:spcAft>
                <a:spcPts val="600"/>
              </a:spcAft>
              <a:buSzPct val="100000"/>
              <a:buChar char="•"/>
            </a:pPr>
            <a:r>
              <a:rPr lang="en-US" sz="1250" dirty="0">
                <a:solidFill>
                  <a:srgbClr val="24262E"/>
                </a:solidFill>
                <a:latin typeface="Calibri" pitchFamily="34" charset="0"/>
                <a:ea typeface="Calibri" pitchFamily="34" charset="-122"/>
                <a:cs typeface="Calibri" pitchFamily="34" charset="-120"/>
              </a:rPr>
              <a:t>15–20% rezervat exclusiv ca set de test</a:t>
            </a:r>
            <a:endParaRPr lang="en-US" sz="1250" dirty="0"/>
          </a:p>
        </p:txBody>
      </p:sp>
      <p:sp>
        <p:nvSpPr>
          <p:cNvPr id="12" name="Shape 10"/>
          <p:cNvSpPr/>
          <p:nvPr/>
        </p:nvSpPr>
        <p:spPr>
          <a:xfrm>
            <a:off x="6355080" y="1463040"/>
            <a:ext cx="5303520" cy="4389120"/>
          </a:xfrm>
          <a:prstGeom prst="roundRect">
            <a:avLst>
              <a:gd name="adj" fmla="val 1667"/>
            </a:avLst>
          </a:prstGeom>
          <a:solidFill>
            <a:srgbClr val="1E2761"/>
          </a:solidFill>
          <a:ln/>
        </p:spPr>
      </p:sp>
      <p:sp>
        <p:nvSpPr>
          <p:cNvPr id="13" name="Text 11"/>
          <p:cNvSpPr/>
          <p:nvPr/>
        </p:nvSpPr>
        <p:spPr>
          <a:xfrm>
            <a:off x="6675120" y="1691640"/>
            <a:ext cx="466344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Flux de retrieval (ChromaDB)</a:t>
            </a:r>
            <a:endParaRPr lang="en-US" sz="1500" dirty="0"/>
          </a:p>
        </p:txBody>
      </p:sp>
      <p:sp>
        <p:nvSpPr>
          <p:cNvPr id="14" name="Shape 12"/>
          <p:cNvSpPr/>
          <p:nvPr/>
        </p:nvSpPr>
        <p:spPr>
          <a:xfrm>
            <a:off x="6675120" y="2194560"/>
            <a:ext cx="329184" cy="329184"/>
          </a:xfrm>
          <a:prstGeom prst="ellipse">
            <a:avLst/>
          </a:prstGeom>
          <a:solidFill>
            <a:srgbClr val="CADCFC"/>
          </a:solidFill>
          <a:ln/>
        </p:spPr>
      </p:sp>
      <p:sp>
        <p:nvSpPr>
          <p:cNvPr id="15" name="Text 13"/>
          <p:cNvSpPr/>
          <p:nvPr/>
        </p:nvSpPr>
        <p:spPr>
          <a:xfrm>
            <a:off x="6675120" y="2194560"/>
            <a:ext cx="329184" cy="329184"/>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1</a:t>
            </a:r>
            <a:endParaRPr lang="en-US" sz="1100" dirty="0"/>
          </a:p>
        </p:txBody>
      </p:sp>
      <p:sp>
        <p:nvSpPr>
          <p:cNvPr id="16" name="Text 14"/>
          <p:cNvSpPr/>
          <p:nvPr/>
        </p:nvSpPr>
        <p:spPr>
          <a:xfrm>
            <a:off x="7132320" y="2148840"/>
            <a:ext cx="4343400" cy="4572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Tichet nou → embedding query</a:t>
            </a:r>
            <a:endParaRPr lang="en-US" sz="1100" dirty="0"/>
          </a:p>
        </p:txBody>
      </p:sp>
      <p:sp>
        <p:nvSpPr>
          <p:cNvPr id="17" name="Shape 15"/>
          <p:cNvSpPr/>
          <p:nvPr/>
        </p:nvSpPr>
        <p:spPr>
          <a:xfrm>
            <a:off x="6675120" y="2816352"/>
            <a:ext cx="329184" cy="329184"/>
          </a:xfrm>
          <a:prstGeom prst="ellipse">
            <a:avLst/>
          </a:prstGeom>
          <a:solidFill>
            <a:srgbClr val="CADCFC"/>
          </a:solidFill>
          <a:ln/>
        </p:spPr>
      </p:sp>
      <p:sp>
        <p:nvSpPr>
          <p:cNvPr id="18" name="Text 16"/>
          <p:cNvSpPr/>
          <p:nvPr/>
        </p:nvSpPr>
        <p:spPr>
          <a:xfrm>
            <a:off x="6675120" y="2816352"/>
            <a:ext cx="329184" cy="329184"/>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2</a:t>
            </a:r>
            <a:endParaRPr lang="en-US" sz="1100" dirty="0"/>
          </a:p>
        </p:txBody>
      </p:sp>
      <p:sp>
        <p:nvSpPr>
          <p:cNvPr id="19" name="Text 17"/>
          <p:cNvSpPr/>
          <p:nvPr/>
        </p:nvSpPr>
        <p:spPr>
          <a:xfrm>
            <a:off x="7132320" y="2770632"/>
            <a:ext cx="4343400" cy="4572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Căutare semantică în ChromaDB</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(tichete istorice + articole KB)</a:t>
            </a:r>
            <a:endParaRPr lang="en-US" sz="1100" dirty="0"/>
          </a:p>
        </p:txBody>
      </p:sp>
      <p:sp>
        <p:nvSpPr>
          <p:cNvPr id="20" name="Shape 18"/>
          <p:cNvSpPr/>
          <p:nvPr/>
        </p:nvSpPr>
        <p:spPr>
          <a:xfrm>
            <a:off x="6675120" y="3438144"/>
            <a:ext cx="329184" cy="329184"/>
          </a:xfrm>
          <a:prstGeom prst="ellipse">
            <a:avLst/>
          </a:prstGeom>
          <a:solidFill>
            <a:srgbClr val="CADCFC"/>
          </a:solidFill>
          <a:ln/>
        </p:spPr>
      </p:sp>
      <p:sp>
        <p:nvSpPr>
          <p:cNvPr id="21" name="Text 19"/>
          <p:cNvSpPr/>
          <p:nvPr/>
        </p:nvSpPr>
        <p:spPr>
          <a:xfrm>
            <a:off x="6675120" y="3438144"/>
            <a:ext cx="329184" cy="329184"/>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3</a:t>
            </a:r>
            <a:endParaRPr lang="en-US" sz="1100" dirty="0"/>
          </a:p>
        </p:txBody>
      </p:sp>
      <p:sp>
        <p:nvSpPr>
          <p:cNvPr id="22" name="Text 20"/>
          <p:cNvSpPr/>
          <p:nvPr/>
        </p:nvSpPr>
        <p:spPr>
          <a:xfrm>
            <a:off x="7132320" y="3392424"/>
            <a:ext cx="4343400" cy="4572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Top-k documente + scoruri de similaritate</a:t>
            </a:r>
            <a:endParaRPr lang="en-US" sz="1100" dirty="0"/>
          </a:p>
        </p:txBody>
      </p:sp>
      <p:sp>
        <p:nvSpPr>
          <p:cNvPr id="23" name="Shape 21"/>
          <p:cNvSpPr/>
          <p:nvPr/>
        </p:nvSpPr>
        <p:spPr>
          <a:xfrm>
            <a:off x="6675120" y="4059936"/>
            <a:ext cx="329184" cy="329184"/>
          </a:xfrm>
          <a:prstGeom prst="ellipse">
            <a:avLst/>
          </a:prstGeom>
          <a:solidFill>
            <a:srgbClr val="CADCFC"/>
          </a:solidFill>
          <a:ln/>
        </p:spPr>
      </p:sp>
      <p:sp>
        <p:nvSpPr>
          <p:cNvPr id="24" name="Text 22"/>
          <p:cNvSpPr/>
          <p:nvPr/>
        </p:nvSpPr>
        <p:spPr>
          <a:xfrm>
            <a:off x="6675120" y="4059936"/>
            <a:ext cx="329184" cy="329184"/>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4</a:t>
            </a:r>
            <a:endParaRPr lang="en-US" sz="1100" dirty="0"/>
          </a:p>
        </p:txBody>
      </p:sp>
      <p:sp>
        <p:nvSpPr>
          <p:cNvPr id="25" name="Text 23"/>
          <p:cNvSpPr/>
          <p:nvPr/>
        </p:nvSpPr>
        <p:spPr>
          <a:xfrm>
            <a:off x="7132320" y="4014216"/>
            <a:ext cx="4343400" cy="4572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Documentele intră în promptul LLM</a:t>
            </a:r>
            <a:endParaRPr lang="en-US" sz="1100" dirty="0"/>
          </a:p>
        </p:txBody>
      </p:sp>
      <p:sp>
        <p:nvSpPr>
          <p:cNvPr id="26" name="Shape 24"/>
          <p:cNvSpPr/>
          <p:nvPr/>
        </p:nvSpPr>
        <p:spPr>
          <a:xfrm>
            <a:off x="6675120" y="4681728"/>
            <a:ext cx="329184" cy="329184"/>
          </a:xfrm>
          <a:prstGeom prst="ellipse">
            <a:avLst/>
          </a:prstGeom>
          <a:solidFill>
            <a:srgbClr val="CADCFC"/>
          </a:solidFill>
          <a:ln/>
        </p:spPr>
      </p:sp>
      <p:sp>
        <p:nvSpPr>
          <p:cNvPr id="27" name="Text 25"/>
          <p:cNvSpPr/>
          <p:nvPr/>
        </p:nvSpPr>
        <p:spPr>
          <a:xfrm>
            <a:off x="6675120" y="4681728"/>
            <a:ext cx="329184" cy="329184"/>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5</a:t>
            </a:r>
            <a:endParaRPr lang="en-US" sz="1100" dirty="0"/>
          </a:p>
        </p:txBody>
      </p:sp>
      <p:sp>
        <p:nvSpPr>
          <p:cNvPr id="28" name="Text 26"/>
          <p:cNvSpPr/>
          <p:nvPr/>
        </p:nvSpPr>
        <p:spPr>
          <a:xfrm>
            <a:off x="7132320" y="4636008"/>
            <a:ext cx="4343400" cy="4572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doc_id-urile devin citări în output</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(TicketClassification.citations)</a:t>
            </a:r>
            <a:endParaRPr lang="en-US" sz="1100" dirty="0"/>
          </a:p>
        </p:txBody>
      </p:sp>
      <p:sp>
        <p:nvSpPr>
          <p:cNvPr id="29" name="Text 27"/>
          <p:cNvSpPr/>
          <p:nvPr/>
        </p:nvSpPr>
        <p:spPr>
          <a:xfrm>
            <a:off x="6675120" y="5440680"/>
            <a:ext cx="4709160" cy="548640"/>
          </a:xfrm>
          <a:prstGeom prst="rect">
            <a:avLst/>
          </a:prstGeom>
          <a:noFill/>
          <a:ln/>
        </p:spPr>
        <p:txBody>
          <a:bodyPr wrap="square" rtlCol="0" anchor="t"/>
          <a:lstStyle/>
          <a:p>
            <a:pPr indent="0" marL="0">
              <a:buNone/>
            </a:pPr>
            <a:r>
              <a:rPr lang="en-US" sz="1050" i="1" dirty="0">
                <a:solidFill>
                  <a:srgbClr val="CADCFC"/>
                </a:solidFill>
                <a:latin typeface="Calibri" pitchFamily="34" charset="0"/>
                <a:ea typeface="Calibri" pitchFamily="34" charset="-122"/>
                <a:cs typeface="Calibri" pitchFamily="34" charset="-120"/>
              </a:rPr>
              <a:t>Evaluare RAG separată cu RAGAS (faithfulness, context precision) pe perechi întrebare/răspuns de referință.</a:t>
            </a:r>
            <a:endParaRPr lang="en-US" sz="1050" dirty="0"/>
          </a:p>
        </p:txBody>
      </p:sp>
      <p:sp>
        <p:nvSpPr>
          <p:cNvPr id="30" name="Text 28"/>
          <p:cNvSpPr/>
          <p:nvPr/>
        </p:nvSpPr>
        <p:spPr>
          <a:xfrm>
            <a:off x="11521440" y="6446520"/>
            <a:ext cx="457200" cy="320040"/>
          </a:xfrm>
          <a:prstGeom prst="rect">
            <a:avLst/>
          </a:prstGeom>
          <a:noFill/>
          <a:ln/>
        </p:spPr>
        <p:txBody>
          <a:bodyPr wrap="square" rtlCol="0" anchor="ctr"/>
          <a:lstStyle/>
          <a:p>
            <a:pPr algn="r" indent="0" marL="0">
              <a:buNone/>
            </a:pPr>
            <a:r>
              <a:rPr lang="en-US" sz="1000" dirty="0">
                <a:solidFill>
                  <a:srgbClr val="6B70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502920"/>
            <a:ext cx="10515600" cy="640080"/>
          </a:xfrm>
          <a:prstGeom prst="rect">
            <a:avLst/>
          </a:prstGeom>
          <a:noFill/>
          <a:ln/>
        </p:spPr>
        <p:txBody>
          <a:bodyPr wrap="square" rtlCol="0" anchor="ctr"/>
          <a:lstStyle/>
          <a:p>
            <a:pPr indent="0" marL="0">
              <a:buNone/>
            </a:pPr>
            <a:r>
              <a:rPr lang="en-US" sz="3000" b="1" dirty="0">
                <a:solidFill>
                  <a:srgbClr val="24262E"/>
                </a:solidFill>
                <a:latin typeface="Cambria" pitchFamily="34" charset="0"/>
                <a:ea typeface="Cambria" pitchFamily="34" charset="-122"/>
                <a:cs typeface="Cambria" pitchFamily="34" charset="-120"/>
              </a:rPr>
              <a:t>Reasoning, decizie și execuție</a:t>
            </a:r>
            <a:endParaRPr lang="en-US" sz="3000" dirty="0"/>
          </a:p>
        </p:txBody>
      </p:sp>
      <p:sp>
        <p:nvSpPr>
          <p:cNvPr id="3" name="Shape 1"/>
          <p:cNvSpPr/>
          <p:nvPr/>
        </p:nvSpPr>
        <p:spPr>
          <a:xfrm>
            <a:off x="548640" y="1554480"/>
            <a:ext cx="3520440" cy="3291840"/>
          </a:xfrm>
          <a:prstGeom prst="roundRect">
            <a:avLst>
              <a:gd name="adj" fmla="val 2222"/>
            </a:avLst>
          </a:prstGeom>
          <a:solidFill>
            <a:srgbClr val="1E2761"/>
          </a:solidFill>
          <a:ln w="12700">
            <a:solidFill>
              <a:srgbClr val="D9DEEB"/>
            </a:solidFill>
            <a:prstDash val="solid"/>
          </a:ln>
        </p:spPr>
      </p:sp>
      <p:sp>
        <p:nvSpPr>
          <p:cNvPr id="4" name="Text 2"/>
          <p:cNvSpPr/>
          <p:nvPr/>
        </p:nvSpPr>
        <p:spPr>
          <a:xfrm>
            <a:off x="777240" y="1828800"/>
            <a:ext cx="3063240" cy="50292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Reasoning</a:t>
            </a:r>
            <a:endParaRPr lang="en-US" sz="2000" dirty="0"/>
          </a:p>
        </p:txBody>
      </p:sp>
      <p:sp>
        <p:nvSpPr>
          <p:cNvPr id="5" name="Text 3"/>
          <p:cNvSpPr/>
          <p:nvPr/>
        </p:nvSpPr>
        <p:spPr>
          <a:xfrm>
            <a:off x="777240" y="2331720"/>
            <a:ext cx="3063240" cy="320040"/>
          </a:xfrm>
          <a:prstGeom prst="rect">
            <a:avLst/>
          </a:prstGeom>
          <a:noFill/>
          <a:ln/>
        </p:spPr>
        <p:txBody>
          <a:bodyPr wrap="square" rtlCol="0" anchor="ctr"/>
          <a:lstStyle/>
          <a:p>
            <a:pPr indent="0" marL="0">
              <a:buNone/>
            </a:pPr>
            <a:r>
              <a:rPr lang="en-US" sz="1150" i="1" dirty="0">
                <a:solidFill>
                  <a:srgbClr val="CADCFC"/>
                </a:solidFill>
                <a:latin typeface="Calibri" pitchFamily="34" charset="0"/>
                <a:ea typeface="Calibri" pitchFamily="34" charset="-122"/>
                <a:cs typeface="Calibri" pitchFamily="34" charset="-120"/>
              </a:rPr>
              <a:t>LLM</a:t>
            </a:r>
            <a:endParaRPr lang="en-US" sz="1150" dirty="0"/>
          </a:p>
        </p:txBody>
      </p:sp>
      <p:sp>
        <p:nvSpPr>
          <p:cNvPr id="6" name="Text 4"/>
          <p:cNvSpPr/>
          <p:nvPr/>
        </p:nvSpPr>
        <p:spPr>
          <a:xfrm>
            <a:off x="777240" y="2788920"/>
            <a:ext cx="3063240" cy="1828800"/>
          </a:xfrm>
          <a:prstGeom prst="rect">
            <a:avLst/>
          </a:prstGeom>
          <a:noFill/>
          <a:ln/>
        </p:spPr>
        <p:txBody>
          <a:bodyPr wrap="square" rtlCol="0" anchor="t"/>
          <a:lstStyle/>
          <a:p>
            <a:pPr indent="0" marL="0">
              <a:buNone/>
            </a:pPr>
            <a:r>
              <a:rPr lang="en-US" sz="1250" dirty="0">
                <a:solidFill>
                  <a:srgbClr val="FFFFFF"/>
                </a:solidFill>
                <a:latin typeface="Calibri" pitchFamily="34" charset="0"/>
                <a:ea typeface="Calibri" pitchFamily="34" charset="-122"/>
                <a:cs typeface="Calibri" pitchFamily="34" charset="-120"/>
              </a:rPr>
              <a:t>Propune clasificarea (prioritate, categorie, echipă) pe baza tichetului + context RAG. Rezultat: obiect structurat, nu o acțiune.</a:t>
            </a:r>
            <a:endParaRPr lang="en-US" sz="1250" dirty="0"/>
          </a:p>
        </p:txBody>
      </p:sp>
      <p:sp>
        <p:nvSpPr>
          <p:cNvPr id="7" name="Shape 5"/>
          <p:cNvSpPr/>
          <p:nvPr/>
        </p:nvSpPr>
        <p:spPr>
          <a:xfrm>
            <a:off x="4096512" y="3200400"/>
            <a:ext cx="173736" cy="0"/>
          </a:xfrm>
          <a:prstGeom prst="line">
            <a:avLst/>
          </a:prstGeom>
          <a:noFill/>
          <a:ln w="25400">
            <a:solidFill>
              <a:srgbClr val="3E5C9A"/>
            </a:solidFill>
            <a:prstDash val="solid"/>
            <a:tailEnd type="triangle"/>
          </a:ln>
        </p:spPr>
      </p:sp>
      <p:sp>
        <p:nvSpPr>
          <p:cNvPr id="8" name="Shape 6"/>
          <p:cNvSpPr/>
          <p:nvPr/>
        </p:nvSpPr>
        <p:spPr>
          <a:xfrm>
            <a:off x="4297680" y="1554480"/>
            <a:ext cx="3520440" cy="3291840"/>
          </a:xfrm>
          <a:prstGeom prst="roundRect">
            <a:avLst>
              <a:gd name="adj" fmla="val 2222"/>
            </a:avLst>
          </a:prstGeom>
          <a:solidFill>
            <a:srgbClr val="CADCFC"/>
          </a:solidFill>
          <a:ln w="12700">
            <a:solidFill>
              <a:srgbClr val="D9DEEB"/>
            </a:solidFill>
            <a:prstDash val="solid"/>
          </a:ln>
        </p:spPr>
      </p:sp>
      <p:sp>
        <p:nvSpPr>
          <p:cNvPr id="9" name="Text 7"/>
          <p:cNvSpPr/>
          <p:nvPr/>
        </p:nvSpPr>
        <p:spPr>
          <a:xfrm>
            <a:off x="4526280" y="1828800"/>
            <a:ext cx="3063240" cy="502920"/>
          </a:xfrm>
          <a:prstGeom prst="rect">
            <a:avLst/>
          </a:prstGeom>
          <a:noFill/>
          <a:ln/>
        </p:spPr>
        <p:txBody>
          <a:bodyPr wrap="square"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Decizie</a:t>
            </a:r>
            <a:endParaRPr lang="en-US" sz="2000" dirty="0"/>
          </a:p>
        </p:txBody>
      </p:sp>
      <p:sp>
        <p:nvSpPr>
          <p:cNvPr id="10" name="Text 8"/>
          <p:cNvSpPr/>
          <p:nvPr/>
        </p:nvSpPr>
        <p:spPr>
          <a:xfrm>
            <a:off x="4526280" y="2331720"/>
            <a:ext cx="3063240" cy="320040"/>
          </a:xfrm>
          <a:prstGeom prst="rect">
            <a:avLst/>
          </a:prstGeom>
          <a:noFill/>
          <a:ln/>
        </p:spPr>
        <p:txBody>
          <a:bodyPr wrap="square" rtlCol="0" anchor="ctr"/>
          <a:lstStyle/>
          <a:p>
            <a:pPr indent="0" marL="0">
              <a:buNone/>
            </a:pPr>
            <a:r>
              <a:rPr lang="en-US" sz="1150" i="1" dirty="0">
                <a:solidFill>
                  <a:srgbClr val="3E5C9A"/>
                </a:solidFill>
                <a:latin typeface="Calibri" pitchFamily="34" charset="0"/>
                <a:ea typeface="Calibri" pitchFamily="34" charset="-122"/>
                <a:cs typeface="Calibri" pitchFamily="34" charset="-120"/>
              </a:rPr>
              <a:t>cod determinist</a:t>
            </a:r>
            <a:endParaRPr lang="en-US" sz="1150" dirty="0"/>
          </a:p>
        </p:txBody>
      </p:sp>
      <p:sp>
        <p:nvSpPr>
          <p:cNvPr id="11" name="Text 9"/>
          <p:cNvSpPr/>
          <p:nvPr/>
        </p:nvSpPr>
        <p:spPr>
          <a:xfrm>
            <a:off x="4526280" y="2788920"/>
            <a:ext cx="3063240" cy="1828800"/>
          </a:xfrm>
          <a:prstGeom prst="rect">
            <a:avLst/>
          </a:prstGeom>
          <a:noFill/>
          <a:ln/>
        </p:spPr>
        <p:txBody>
          <a:bodyPr wrap="square" rtlCol="0" anchor="t"/>
          <a:lstStyle/>
          <a:p>
            <a:pPr indent="0" marL="0">
              <a:buNone/>
            </a:pPr>
            <a:r>
              <a:rPr lang="en-US" sz="1250" dirty="0">
                <a:solidFill>
                  <a:srgbClr val="1E2761"/>
                </a:solidFill>
                <a:latin typeface="Calibri" pitchFamily="34" charset="0"/>
                <a:ea typeface="Calibri" pitchFamily="34" charset="-122"/>
                <a:cs typeface="Calibri" pitchFamily="34" charset="-120"/>
              </a:rPr>
              <a:t>Validează structura propusă (Pydantic) și aplică praguri de risc fixe pentru a decide: execuție automată sau aprobare umană.</a:t>
            </a:r>
            <a:endParaRPr lang="en-US" sz="1250" dirty="0"/>
          </a:p>
        </p:txBody>
      </p:sp>
      <p:sp>
        <p:nvSpPr>
          <p:cNvPr id="12" name="Shape 10"/>
          <p:cNvSpPr/>
          <p:nvPr/>
        </p:nvSpPr>
        <p:spPr>
          <a:xfrm>
            <a:off x="7845552" y="3200400"/>
            <a:ext cx="173736" cy="0"/>
          </a:xfrm>
          <a:prstGeom prst="line">
            <a:avLst/>
          </a:prstGeom>
          <a:noFill/>
          <a:ln w="25400">
            <a:solidFill>
              <a:srgbClr val="3E5C9A"/>
            </a:solidFill>
            <a:prstDash val="solid"/>
            <a:tailEnd type="triangle"/>
          </a:ln>
        </p:spPr>
      </p:sp>
      <p:sp>
        <p:nvSpPr>
          <p:cNvPr id="13" name="Shape 11"/>
          <p:cNvSpPr/>
          <p:nvPr/>
        </p:nvSpPr>
        <p:spPr>
          <a:xfrm>
            <a:off x="8046720" y="1554480"/>
            <a:ext cx="3520440" cy="3291840"/>
          </a:xfrm>
          <a:prstGeom prst="roundRect">
            <a:avLst>
              <a:gd name="adj" fmla="val 2222"/>
            </a:avLst>
          </a:prstGeom>
          <a:solidFill>
            <a:srgbClr val="FFFFFF"/>
          </a:solidFill>
          <a:ln w="12700">
            <a:solidFill>
              <a:srgbClr val="D9DEEB"/>
            </a:solidFill>
            <a:prstDash val="solid"/>
          </a:ln>
        </p:spPr>
      </p:sp>
      <p:sp>
        <p:nvSpPr>
          <p:cNvPr id="14" name="Text 12"/>
          <p:cNvSpPr/>
          <p:nvPr/>
        </p:nvSpPr>
        <p:spPr>
          <a:xfrm>
            <a:off x="8275320" y="1828800"/>
            <a:ext cx="3063240" cy="502920"/>
          </a:xfrm>
          <a:prstGeom prst="rect">
            <a:avLst/>
          </a:prstGeom>
          <a:noFill/>
          <a:ln/>
        </p:spPr>
        <p:txBody>
          <a:bodyPr wrap="square"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Execuție</a:t>
            </a:r>
            <a:endParaRPr lang="en-US" sz="2000" dirty="0"/>
          </a:p>
        </p:txBody>
      </p:sp>
      <p:sp>
        <p:nvSpPr>
          <p:cNvPr id="15" name="Text 13"/>
          <p:cNvSpPr/>
          <p:nvPr/>
        </p:nvSpPr>
        <p:spPr>
          <a:xfrm>
            <a:off x="8275320" y="2331720"/>
            <a:ext cx="3063240" cy="320040"/>
          </a:xfrm>
          <a:prstGeom prst="rect">
            <a:avLst/>
          </a:prstGeom>
          <a:noFill/>
          <a:ln/>
        </p:spPr>
        <p:txBody>
          <a:bodyPr wrap="square" rtlCol="0" anchor="ctr"/>
          <a:lstStyle/>
          <a:p>
            <a:pPr indent="0" marL="0">
              <a:buNone/>
            </a:pPr>
            <a:r>
              <a:rPr lang="en-US" sz="1150" i="1" dirty="0">
                <a:solidFill>
                  <a:srgbClr val="3E5C9A"/>
                </a:solidFill>
                <a:latin typeface="Calibri" pitchFamily="34" charset="0"/>
                <a:ea typeface="Calibri" pitchFamily="34" charset="-122"/>
                <a:cs typeface="Calibri" pitchFamily="34" charset="-120"/>
              </a:rPr>
              <a:t>tool-uri deterministe</a:t>
            </a:r>
            <a:endParaRPr lang="en-US" sz="1150" dirty="0"/>
          </a:p>
        </p:txBody>
      </p:sp>
      <p:sp>
        <p:nvSpPr>
          <p:cNvPr id="16" name="Text 14"/>
          <p:cNvSpPr/>
          <p:nvPr/>
        </p:nvSpPr>
        <p:spPr>
          <a:xfrm>
            <a:off x="8275320" y="2788920"/>
            <a:ext cx="3063240" cy="1828800"/>
          </a:xfrm>
          <a:prstGeom prst="rect">
            <a:avLst/>
          </a:prstGeom>
          <a:noFill/>
          <a:ln/>
        </p:spPr>
        <p:txBody>
          <a:bodyPr wrap="square" rtlCol="0" anchor="t"/>
          <a:lstStyle/>
          <a:p>
            <a:pPr indent="0" marL="0">
              <a:buNone/>
            </a:pPr>
            <a:r>
              <a:rPr lang="en-US" sz="1250" dirty="0">
                <a:solidFill>
                  <a:srgbClr val="1E2761"/>
                </a:solidFill>
                <a:latin typeface="Calibri" pitchFamily="34" charset="0"/>
                <a:ea typeface="Calibri" pitchFamily="34" charset="-122"/>
                <a:cs typeface="Calibri" pitchFamily="34" charset="-120"/>
              </a:rPr>
              <a:t>Rutarea efectivă a tichetului. Complet separată de LLM — care nu are niciodată acces direct la sistemele de execuție.</a:t>
            </a:r>
            <a:endParaRPr lang="en-US" sz="1250" dirty="0"/>
          </a:p>
        </p:txBody>
      </p:sp>
      <p:sp>
        <p:nvSpPr>
          <p:cNvPr id="17" name="Text 15"/>
          <p:cNvSpPr/>
          <p:nvPr/>
        </p:nvSpPr>
        <p:spPr>
          <a:xfrm>
            <a:off x="548640" y="5074920"/>
            <a:ext cx="10881360" cy="548640"/>
          </a:xfrm>
          <a:prstGeom prst="rect">
            <a:avLst/>
          </a:prstGeom>
          <a:noFill/>
          <a:ln/>
        </p:spPr>
        <p:txBody>
          <a:bodyPr wrap="square" rtlCol="0" anchor="ctr"/>
          <a:lstStyle/>
          <a:p>
            <a:pPr indent="0" marL="0">
              <a:buNone/>
            </a:pPr>
            <a:r>
              <a:rPr lang="en-US" sz="1150" i="1" dirty="0">
                <a:solidFill>
                  <a:srgbClr val="6B7080"/>
                </a:solidFill>
                <a:latin typeface="Calibri" pitchFamily="34" charset="0"/>
                <a:ea typeface="Calibri" pitchFamily="34" charset="-122"/>
                <a:cs typeface="Calibri" pitchFamily="34" charset="-120"/>
              </a:rPr>
              <a:t>Notă: identificarea explicită a agenților și a protocoalelor de handoff se detaliază în modulul următor — aici e conceptul de separare, nu implementarea.</a:t>
            </a:r>
            <a:endParaRPr lang="en-US" sz="1150" dirty="0"/>
          </a:p>
        </p:txBody>
      </p:sp>
      <p:sp>
        <p:nvSpPr>
          <p:cNvPr id="18" name="Text 16"/>
          <p:cNvSpPr/>
          <p:nvPr/>
        </p:nvSpPr>
        <p:spPr>
          <a:xfrm>
            <a:off x="11521440" y="6446520"/>
            <a:ext cx="457200" cy="320040"/>
          </a:xfrm>
          <a:prstGeom prst="rect">
            <a:avLst/>
          </a:prstGeom>
          <a:noFill/>
          <a:ln/>
        </p:spPr>
        <p:txBody>
          <a:bodyPr wrap="square" rtlCol="0" anchor="ctr"/>
          <a:lstStyle/>
          <a:p>
            <a:pPr algn="r" indent="0" marL="0">
              <a:buNone/>
            </a:pPr>
            <a:r>
              <a:rPr lang="en-US" sz="1000" dirty="0">
                <a:solidFill>
                  <a:srgbClr val="6B70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502920"/>
            <a:ext cx="10515600" cy="640080"/>
          </a:xfrm>
          <a:prstGeom prst="rect">
            <a:avLst/>
          </a:prstGeom>
          <a:noFill/>
          <a:ln/>
        </p:spPr>
        <p:txBody>
          <a:bodyPr wrap="square" rtlCol="0" anchor="ctr"/>
          <a:lstStyle/>
          <a:p>
            <a:pPr indent="0" marL="0">
              <a:buNone/>
            </a:pPr>
            <a:r>
              <a:rPr lang="en-US" sz="3000" b="1" dirty="0">
                <a:solidFill>
                  <a:srgbClr val="24262E"/>
                </a:solidFill>
                <a:latin typeface="Cambria" pitchFamily="34" charset="0"/>
                <a:ea typeface="Cambria" pitchFamily="34" charset="-122"/>
                <a:cs typeface="Cambria" pitchFamily="34" charset="-120"/>
              </a:rPr>
              <a:t>KPI și criterii de succes</a:t>
            </a:r>
            <a:endParaRPr lang="en-US" sz="3000" dirty="0"/>
          </a:p>
        </p:txBody>
      </p:sp>
      <p:sp>
        <p:nvSpPr>
          <p:cNvPr id="3" name="Shape 1"/>
          <p:cNvSpPr/>
          <p:nvPr/>
        </p:nvSpPr>
        <p:spPr>
          <a:xfrm>
            <a:off x="548640" y="1554480"/>
            <a:ext cx="5257800" cy="2103120"/>
          </a:xfrm>
          <a:prstGeom prst="roundRect">
            <a:avLst>
              <a:gd name="adj" fmla="val 3478"/>
            </a:avLst>
          </a:prstGeom>
          <a:solidFill>
            <a:srgbClr val="1E2761"/>
          </a:solidFill>
          <a:ln/>
        </p:spPr>
      </p:sp>
      <p:sp>
        <p:nvSpPr>
          <p:cNvPr id="4" name="Text 2"/>
          <p:cNvSpPr/>
          <p:nvPr/>
        </p:nvSpPr>
        <p:spPr>
          <a:xfrm>
            <a:off x="868680" y="1828800"/>
            <a:ext cx="4617720" cy="6400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Acuratețe</a:t>
            </a:r>
            <a:endParaRPr lang="en-US" sz="2600" dirty="0"/>
          </a:p>
        </p:txBody>
      </p:sp>
      <p:sp>
        <p:nvSpPr>
          <p:cNvPr id="5" name="Text 3"/>
          <p:cNvSpPr/>
          <p:nvPr/>
        </p:nvSpPr>
        <p:spPr>
          <a:xfrm>
            <a:off x="868680" y="2423160"/>
            <a:ext cx="4617720" cy="320040"/>
          </a:xfrm>
          <a:prstGeom prst="rect">
            <a:avLst/>
          </a:prstGeom>
          <a:noFill/>
          <a:ln/>
        </p:spPr>
        <p:txBody>
          <a:bodyPr wrap="square" rtlCol="0" anchor="ctr"/>
          <a:lstStyle/>
          <a:p>
            <a:pPr indent="0" marL="0">
              <a:buNone/>
            </a:pPr>
            <a:r>
              <a:rPr lang="en-US" sz="1200" spc="100" kern="0" dirty="0">
                <a:solidFill>
                  <a:srgbClr val="CADCFC"/>
                </a:solidFill>
                <a:latin typeface="Calibri" pitchFamily="34" charset="0"/>
                <a:ea typeface="Calibri" pitchFamily="34" charset="-122"/>
                <a:cs typeface="Calibri" pitchFamily="34" charset="-120"/>
              </a:rPr>
              <a:t>CLASIFICARE</a:t>
            </a:r>
            <a:endParaRPr lang="en-US" sz="1200" dirty="0"/>
          </a:p>
        </p:txBody>
      </p:sp>
      <p:sp>
        <p:nvSpPr>
          <p:cNvPr id="6" name="Text 4"/>
          <p:cNvSpPr/>
          <p:nvPr/>
        </p:nvSpPr>
        <p:spPr>
          <a:xfrm>
            <a:off x="868680" y="2834640"/>
            <a:ext cx="4617720" cy="640080"/>
          </a:xfrm>
          <a:prstGeom prst="rect">
            <a:avLst/>
          </a:prstGeom>
          <a:noFill/>
          <a:ln/>
        </p:spPr>
        <p:txBody>
          <a:bodyPr wrap="square" rtlCol="0" anchor="t"/>
          <a:lstStyle/>
          <a:p>
            <a:pPr indent="0" marL="0">
              <a:buNone/>
            </a:pPr>
            <a:r>
              <a:rPr lang="en-US" sz="1150" dirty="0">
                <a:solidFill>
                  <a:srgbClr val="CADCFC"/>
                </a:solidFill>
                <a:latin typeface="Calibri" pitchFamily="34" charset="0"/>
                <a:ea typeface="Calibri" pitchFamily="34" charset="-122"/>
                <a:cs typeface="Calibri" pitchFamily="34" charset="-120"/>
              </a:rPr>
              <a:t>% tichete unde prioritatea/categoria propusă coincide cu ground truth, pe set de test separat.</a:t>
            </a:r>
            <a:endParaRPr lang="en-US" sz="1150" dirty="0"/>
          </a:p>
        </p:txBody>
      </p:sp>
      <p:sp>
        <p:nvSpPr>
          <p:cNvPr id="7" name="Shape 5"/>
          <p:cNvSpPr/>
          <p:nvPr/>
        </p:nvSpPr>
        <p:spPr>
          <a:xfrm>
            <a:off x="6172200" y="1554480"/>
            <a:ext cx="5257800" cy="2103120"/>
          </a:xfrm>
          <a:prstGeom prst="roundRect">
            <a:avLst>
              <a:gd name="adj" fmla="val 3478"/>
            </a:avLst>
          </a:prstGeom>
          <a:solidFill>
            <a:srgbClr val="1E2761"/>
          </a:solidFill>
          <a:ln/>
        </p:spPr>
      </p:sp>
      <p:sp>
        <p:nvSpPr>
          <p:cNvPr id="8" name="Text 6"/>
          <p:cNvSpPr/>
          <p:nvPr/>
        </p:nvSpPr>
        <p:spPr>
          <a:xfrm>
            <a:off x="6492240" y="1828800"/>
            <a:ext cx="4617720" cy="6400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 Intervenție</a:t>
            </a:r>
            <a:endParaRPr lang="en-US" sz="2600" dirty="0"/>
          </a:p>
        </p:txBody>
      </p:sp>
      <p:sp>
        <p:nvSpPr>
          <p:cNvPr id="9" name="Text 7"/>
          <p:cNvSpPr/>
          <p:nvPr/>
        </p:nvSpPr>
        <p:spPr>
          <a:xfrm>
            <a:off x="6492240" y="2423160"/>
            <a:ext cx="4617720" cy="320040"/>
          </a:xfrm>
          <a:prstGeom prst="rect">
            <a:avLst/>
          </a:prstGeom>
          <a:noFill/>
          <a:ln/>
        </p:spPr>
        <p:txBody>
          <a:bodyPr wrap="square" rtlCol="0" anchor="ctr"/>
          <a:lstStyle/>
          <a:p>
            <a:pPr indent="0" marL="0">
              <a:buNone/>
            </a:pPr>
            <a:r>
              <a:rPr lang="en-US" sz="1200" spc="100" kern="0" dirty="0">
                <a:solidFill>
                  <a:srgbClr val="CADCFC"/>
                </a:solidFill>
                <a:latin typeface="Calibri" pitchFamily="34" charset="0"/>
                <a:ea typeface="Calibri" pitchFamily="34" charset="-122"/>
                <a:cs typeface="Calibri" pitchFamily="34" charset="-120"/>
              </a:rPr>
              <a:t>UMANĂ</a:t>
            </a:r>
            <a:endParaRPr lang="en-US" sz="1200" dirty="0"/>
          </a:p>
        </p:txBody>
      </p:sp>
      <p:sp>
        <p:nvSpPr>
          <p:cNvPr id="10" name="Text 8"/>
          <p:cNvSpPr/>
          <p:nvPr/>
        </p:nvSpPr>
        <p:spPr>
          <a:xfrm>
            <a:off x="6492240" y="2834640"/>
            <a:ext cx="4617720" cy="640080"/>
          </a:xfrm>
          <a:prstGeom prst="rect">
            <a:avLst/>
          </a:prstGeom>
          <a:noFill/>
          <a:ln/>
        </p:spPr>
        <p:txBody>
          <a:bodyPr wrap="square" rtlCol="0" anchor="t"/>
          <a:lstStyle/>
          <a:p>
            <a:pPr indent="0" marL="0">
              <a:buNone/>
            </a:pPr>
            <a:r>
              <a:rPr lang="en-US" sz="1150" dirty="0">
                <a:solidFill>
                  <a:srgbClr val="CADCFC"/>
                </a:solidFill>
                <a:latin typeface="Calibri" pitchFamily="34" charset="0"/>
                <a:ea typeface="Calibri" pitchFamily="34" charset="-122"/>
                <a:cs typeface="Calibri" pitchFamily="34" charset="-120"/>
              </a:rPr>
              <a:t>proporția de tichete escaladate la aprobare umană (risc ridicat) din total procesate.</a:t>
            </a:r>
            <a:endParaRPr lang="en-US" sz="1150" dirty="0"/>
          </a:p>
        </p:txBody>
      </p:sp>
      <p:sp>
        <p:nvSpPr>
          <p:cNvPr id="11" name="Shape 9"/>
          <p:cNvSpPr/>
          <p:nvPr/>
        </p:nvSpPr>
        <p:spPr>
          <a:xfrm>
            <a:off x="548640" y="3886200"/>
            <a:ext cx="10927080" cy="1920240"/>
          </a:xfrm>
          <a:prstGeom prst="roundRect">
            <a:avLst>
              <a:gd name="adj" fmla="val 3810"/>
            </a:avLst>
          </a:prstGeom>
          <a:solidFill>
            <a:srgbClr val="FFFFFF"/>
          </a:solidFill>
          <a:ln w="12700">
            <a:solidFill>
              <a:srgbClr val="D9DEEB"/>
            </a:solidFill>
            <a:prstDash val="solid"/>
          </a:ln>
        </p:spPr>
      </p:sp>
      <p:sp>
        <p:nvSpPr>
          <p:cNvPr id="12" name="Text 10"/>
          <p:cNvSpPr/>
          <p:nvPr/>
        </p:nvSpPr>
        <p:spPr>
          <a:xfrm>
            <a:off x="868680" y="4114800"/>
            <a:ext cx="7315200" cy="36576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Metoda de verificare</a:t>
            </a:r>
            <a:endParaRPr lang="en-US" sz="1500" dirty="0"/>
          </a:p>
        </p:txBody>
      </p:sp>
      <p:sp>
        <p:nvSpPr>
          <p:cNvPr id="13" name="Text 11"/>
          <p:cNvSpPr/>
          <p:nvPr/>
        </p:nvSpPr>
        <p:spPr>
          <a:xfrm>
            <a:off x="868680" y="4526280"/>
            <a:ext cx="10287000" cy="1188720"/>
          </a:xfrm>
          <a:prstGeom prst="rect">
            <a:avLst/>
          </a:prstGeom>
          <a:noFill/>
          <a:ln/>
        </p:spPr>
        <p:txBody>
          <a:bodyPr wrap="square" rtlCol="0" anchor="t"/>
          <a:lstStyle/>
          <a:p>
            <a:pPr indent="0" marL="0">
              <a:buNone/>
            </a:pPr>
            <a:r>
              <a:rPr lang="en-US" sz="1300" dirty="0">
                <a:solidFill>
                  <a:srgbClr val="24262E"/>
                </a:solidFill>
                <a:latin typeface="Calibri" pitchFamily="34" charset="0"/>
                <a:ea typeface="Calibri" pitchFamily="34" charset="-122"/>
                <a:cs typeface="Calibri" pitchFamily="34" charset="-120"/>
              </a:rPr>
              <a:t>Se compară performanța agentului pe setul de test cu un baseline manual (etichetare umană deja existentă în datele istorice, folosită ca ground truth), pe aceleași tichete și aceleași metrici. Nu se cere estimare sau demo la această etapă — doar metoda de măsurare.</a:t>
            </a:r>
            <a:endParaRPr lang="en-US" sz="1300" dirty="0"/>
          </a:p>
        </p:txBody>
      </p:sp>
      <p:sp>
        <p:nvSpPr>
          <p:cNvPr id="14" name="Text 12"/>
          <p:cNvSpPr/>
          <p:nvPr/>
        </p:nvSpPr>
        <p:spPr>
          <a:xfrm>
            <a:off x="11521440" y="6446520"/>
            <a:ext cx="457200" cy="320040"/>
          </a:xfrm>
          <a:prstGeom prst="rect">
            <a:avLst/>
          </a:prstGeom>
          <a:noFill/>
          <a:ln/>
        </p:spPr>
        <p:txBody>
          <a:bodyPr wrap="square" rtlCol="0" anchor="ctr"/>
          <a:lstStyle/>
          <a:p>
            <a:pPr algn="r" indent="0" marL="0">
              <a:buNone/>
            </a:pPr>
            <a:r>
              <a:rPr lang="en-US" sz="1000" dirty="0">
                <a:solidFill>
                  <a:srgbClr val="6B70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502920"/>
            <a:ext cx="10515600" cy="640080"/>
          </a:xfrm>
          <a:prstGeom prst="rect">
            <a:avLst/>
          </a:prstGeom>
          <a:noFill/>
          <a:ln/>
        </p:spPr>
        <p:txBody>
          <a:bodyPr wrap="square" rtlCol="0" anchor="ctr"/>
          <a:lstStyle/>
          <a:p>
            <a:pPr indent="0" marL="0">
              <a:buNone/>
            </a:pPr>
            <a:r>
              <a:rPr lang="en-US" sz="3000" b="1" dirty="0">
                <a:solidFill>
                  <a:srgbClr val="24262E"/>
                </a:solidFill>
                <a:latin typeface="Cambria" pitchFamily="34" charset="0"/>
                <a:ea typeface="Cambria" pitchFamily="34" charset="-122"/>
                <a:cs typeface="Cambria" pitchFamily="34" charset="-120"/>
              </a:rPr>
              <a:t>Ce aduce în plus, și unde intervine omul</a:t>
            </a:r>
            <a:endParaRPr lang="en-US" sz="3000" dirty="0"/>
          </a:p>
        </p:txBody>
      </p:sp>
      <p:sp>
        <p:nvSpPr>
          <p:cNvPr id="3" name="Text 1"/>
          <p:cNvSpPr/>
          <p:nvPr/>
        </p:nvSpPr>
        <p:spPr>
          <a:xfrm>
            <a:off x="548640" y="1417320"/>
            <a:ext cx="5029200" cy="36576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Valoare / impact</a:t>
            </a:r>
            <a:endParaRPr lang="en-US" sz="1500" dirty="0"/>
          </a:p>
        </p:txBody>
      </p:sp>
      <p:sp>
        <p:nvSpPr>
          <p:cNvPr id="4" name="Shape 2"/>
          <p:cNvSpPr/>
          <p:nvPr/>
        </p:nvSpPr>
        <p:spPr>
          <a:xfrm>
            <a:off x="548640" y="1828800"/>
            <a:ext cx="5440680" cy="868680"/>
          </a:xfrm>
          <a:prstGeom prst="roundRect">
            <a:avLst>
              <a:gd name="adj" fmla="val 6316"/>
            </a:avLst>
          </a:prstGeom>
          <a:solidFill>
            <a:srgbClr val="FFFFFF"/>
          </a:solidFill>
          <a:ln w="12700">
            <a:solidFill>
              <a:srgbClr val="D9DEEB"/>
            </a:solidFill>
            <a:prstDash val="solid"/>
          </a:ln>
        </p:spPr>
      </p:sp>
      <p:sp>
        <p:nvSpPr>
          <p:cNvPr id="5" name="Text 3"/>
          <p:cNvSpPr/>
          <p:nvPr/>
        </p:nvSpPr>
        <p:spPr>
          <a:xfrm>
            <a:off x="777240" y="1920240"/>
            <a:ext cx="5029200" cy="320040"/>
          </a:xfrm>
          <a:prstGeom prst="rect">
            <a:avLst/>
          </a:prstGeom>
          <a:noFill/>
          <a:ln/>
        </p:spPr>
        <p:txBody>
          <a:bodyPr wrap="square" rtlCol="0" anchor="ctr"/>
          <a:lstStyle/>
          <a:p>
            <a:pPr indent="0" marL="0">
              <a:buNone/>
            </a:pPr>
            <a:r>
              <a:rPr lang="en-US" sz="1250" b="1" dirty="0">
                <a:solidFill>
                  <a:srgbClr val="3E5C9A"/>
                </a:solidFill>
                <a:latin typeface="Cambria" pitchFamily="34" charset="0"/>
                <a:ea typeface="Cambria" pitchFamily="34" charset="-122"/>
                <a:cs typeface="Cambria" pitchFamily="34" charset="-120"/>
              </a:rPr>
              <a:t>Timp recâștigat</a:t>
            </a:r>
            <a:endParaRPr lang="en-US" sz="1250" dirty="0"/>
          </a:p>
        </p:txBody>
      </p:sp>
      <p:sp>
        <p:nvSpPr>
          <p:cNvPr id="6" name="Text 4"/>
          <p:cNvSpPr/>
          <p:nvPr/>
        </p:nvSpPr>
        <p:spPr>
          <a:xfrm>
            <a:off x="777240" y="2240280"/>
            <a:ext cx="5029200" cy="411480"/>
          </a:xfrm>
          <a:prstGeom prst="rect">
            <a:avLst/>
          </a:prstGeom>
          <a:noFill/>
          <a:ln/>
        </p:spPr>
        <p:txBody>
          <a:bodyPr wrap="square" rtlCol="0" anchor="t"/>
          <a:lstStyle/>
          <a:p>
            <a:pPr indent="0" marL="0">
              <a:buNone/>
            </a:pPr>
            <a:r>
              <a:rPr lang="en-US" sz="1050" dirty="0">
                <a:solidFill>
                  <a:srgbClr val="24262E"/>
                </a:solidFill>
                <a:latin typeface="Calibri" pitchFamily="34" charset="0"/>
                <a:ea typeface="Calibri" pitchFamily="34" charset="-122"/>
                <a:cs typeface="Calibri" pitchFamily="34" charset="-120"/>
              </a:rPr>
              <a:t>dispecerii nu mai citesc fiecare tichet de la zero</a:t>
            </a:r>
            <a:endParaRPr lang="en-US" sz="1050" dirty="0"/>
          </a:p>
        </p:txBody>
      </p:sp>
      <p:sp>
        <p:nvSpPr>
          <p:cNvPr id="7" name="Shape 5"/>
          <p:cNvSpPr/>
          <p:nvPr/>
        </p:nvSpPr>
        <p:spPr>
          <a:xfrm>
            <a:off x="548640" y="2834640"/>
            <a:ext cx="5440680" cy="868680"/>
          </a:xfrm>
          <a:prstGeom prst="roundRect">
            <a:avLst>
              <a:gd name="adj" fmla="val 6316"/>
            </a:avLst>
          </a:prstGeom>
          <a:solidFill>
            <a:srgbClr val="FFFFFF"/>
          </a:solidFill>
          <a:ln w="12700">
            <a:solidFill>
              <a:srgbClr val="D9DEEB"/>
            </a:solidFill>
            <a:prstDash val="solid"/>
          </a:ln>
        </p:spPr>
      </p:sp>
      <p:sp>
        <p:nvSpPr>
          <p:cNvPr id="8" name="Text 6"/>
          <p:cNvSpPr/>
          <p:nvPr/>
        </p:nvSpPr>
        <p:spPr>
          <a:xfrm>
            <a:off x="777240" y="2926080"/>
            <a:ext cx="5029200" cy="320040"/>
          </a:xfrm>
          <a:prstGeom prst="rect">
            <a:avLst/>
          </a:prstGeom>
          <a:noFill/>
          <a:ln/>
        </p:spPr>
        <p:txBody>
          <a:bodyPr wrap="square" rtlCol="0" anchor="ctr"/>
          <a:lstStyle/>
          <a:p>
            <a:pPr indent="0" marL="0">
              <a:buNone/>
            </a:pPr>
            <a:r>
              <a:rPr lang="en-US" sz="1250" b="1" dirty="0">
                <a:solidFill>
                  <a:srgbClr val="3E5C9A"/>
                </a:solidFill>
                <a:latin typeface="Cambria" pitchFamily="34" charset="0"/>
                <a:ea typeface="Cambria" pitchFamily="34" charset="-122"/>
                <a:cs typeface="Cambria" pitchFamily="34" charset="-120"/>
              </a:rPr>
              <a:t>Consistență</a:t>
            </a:r>
            <a:endParaRPr lang="en-US" sz="1250" dirty="0"/>
          </a:p>
        </p:txBody>
      </p:sp>
      <p:sp>
        <p:nvSpPr>
          <p:cNvPr id="9" name="Text 7"/>
          <p:cNvSpPr/>
          <p:nvPr/>
        </p:nvSpPr>
        <p:spPr>
          <a:xfrm>
            <a:off x="777240" y="3246120"/>
            <a:ext cx="5029200" cy="411480"/>
          </a:xfrm>
          <a:prstGeom prst="rect">
            <a:avLst/>
          </a:prstGeom>
          <a:noFill/>
          <a:ln/>
        </p:spPr>
        <p:txBody>
          <a:bodyPr wrap="square" rtlCol="0" anchor="t"/>
          <a:lstStyle/>
          <a:p>
            <a:pPr indent="0" marL="0">
              <a:buNone/>
            </a:pPr>
            <a:r>
              <a:rPr lang="en-US" sz="1050" dirty="0">
                <a:solidFill>
                  <a:srgbClr val="24262E"/>
                </a:solidFill>
                <a:latin typeface="Calibri" pitchFamily="34" charset="0"/>
                <a:ea typeface="Calibri" pitchFamily="34" charset="-122"/>
                <a:cs typeface="Calibri" pitchFamily="34" charset="-120"/>
              </a:rPr>
              <a:t>aceeași clasificare, indiferent de operator, motivată și citată</a:t>
            </a:r>
            <a:endParaRPr lang="en-US" sz="1050" dirty="0"/>
          </a:p>
        </p:txBody>
      </p:sp>
      <p:sp>
        <p:nvSpPr>
          <p:cNvPr id="10" name="Shape 8"/>
          <p:cNvSpPr/>
          <p:nvPr/>
        </p:nvSpPr>
        <p:spPr>
          <a:xfrm>
            <a:off x="548640" y="3840480"/>
            <a:ext cx="5440680" cy="868680"/>
          </a:xfrm>
          <a:prstGeom prst="roundRect">
            <a:avLst>
              <a:gd name="adj" fmla="val 6316"/>
            </a:avLst>
          </a:prstGeom>
          <a:solidFill>
            <a:srgbClr val="FFFFFF"/>
          </a:solidFill>
          <a:ln w="12700">
            <a:solidFill>
              <a:srgbClr val="D9DEEB"/>
            </a:solidFill>
            <a:prstDash val="solid"/>
          </a:ln>
        </p:spPr>
      </p:sp>
      <p:sp>
        <p:nvSpPr>
          <p:cNvPr id="11" name="Text 9"/>
          <p:cNvSpPr/>
          <p:nvPr/>
        </p:nvSpPr>
        <p:spPr>
          <a:xfrm>
            <a:off x="777240" y="3931920"/>
            <a:ext cx="5029200" cy="320040"/>
          </a:xfrm>
          <a:prstGeom prst="rect">
            <a:avLst/>
          </a:prstGeom>
          <a:noFill/>
          <a:ln/>
        </p:spPr>
        <p:txBody>
          <a:bodyPr wrap="square" rtlCol="0" anchor="ctr"/>
          <a:lstStyle/>
          <a:p>
            <a:pPr indent="0" marL="0">
              <a:buNone/>
            </a:pPr>
            <a:r>
              <a:rPr lang="en-US" sz="1250" b="1" dirty="0">
                <a:solidFill>
                  <a:srgbClr val="3E5C9A"/>
                </a:solidFill>
                <a:latin typeface="Cambria" pitchFamily="34" charset="0"/>
                <a:ea typeface="Cambria" pitchFamily="34" charset="-122"/>
                <a:cs typeface="Cambria" pitchFamily="34" charset="-120"/>
              </a:rPr>
              <a:t>Urmă auditabilă</a:t>
            </a:r>
            <a:endParaRPr lang="en-US" sz="1250" dirty="0"/>
          </a:p>
        </p:txBody>
      </p:sp>
      <p:sp>
        <p:nvSpPr>
          <p:cNvPr id="12" name="Text 10"/>
          <p:cNvSpPr/>
          <p:nvPr/>
        </p:nvSpPr>
        <p:spPr>
          <a:xfrm>
            <a:off x="777240" y="4251960"/>
            <a:ext cx="5029200" cy="411480"/>
          </a:xfrm>
          <a:prstGeom prst="rect">
            <a:avLst/>
          </a:prstGeom>
          <a:noFill/>
          <a:ln/>
        </p:spPr>
        <p:txBody>
          <a:bodyPr wrap="square" rtlCol="0" anchor="t"/>
          <a:lstStyle/>
          <a:p>
            <a:pPr indent="0" marL="0">
              <a:buNone/>
            </a:pPr>
            <a:r>
              <a:rPr lang="en-US" sz="1050" dirty="0">
                <a:solidFill>
                  <a:srgbClr val="24262E"/>
                </a:solidFill>
                <a:latin typeface="Calibri" pitchFamily="34" charset="0"/>
                <a:ea typeface="Calibri" pitchFamily="34" charset="-122"/>
                <a:cs typeface="Calibri" pitchFamily="34" charset="-120"/>
              </a:rPr>
              <a:t>fiecare decizie e loggată — bază pentru raportare și îmbunătățire</a:t>
            </a:r>
            <a:endParaRPr lang="en-US" sz="1050" dirty="0"/>
          </a:p>
        </p:txBody>
      </p:sp>
      <p:sp>
        <p:nvSpPr>
          <p:cNvPr id="13" name="Shape 11"/>
          <p:cNvSpPr/>
          <p:nvPr/>
        </p:nvSpPr>
        <p:spPr>
          <a:xfrm>
            <a:off x="548640" y="4846320"/>
            <a:ext cx="5440680" cy="868680"/>
          </a:xfrm>
          <a:prstGeom prst="roundRect">
            <a:avLst>
              <a:gd name="adj" fmla="val 6316"/>
            </a:avLst>
          </a:prstGeom>
          <a:solidFill>
            <a:srgbClr val="FFFFFF"/>
          </a:solidFill>
          <a:ln w="12700">
            <a:solidFill>
              <a:srgbClr val="D9DEEB"/>
            </a:solidFill>
            <a:prstDash val="solid"/>
          </a:ln>
        </p:spPr>
      </p:sp>
      <p:sp>
        <p:nvSpPr>
          <p:cNvPr id="14" name="Text 12"/>
          <p:cNvSpPr/>
          <p:nvPr/>
        </p:nvSpPr>
        <p:spPr>
          <a:xfrm>
            <a:off x="777240" y="4937760"/>
            <a:ext cx="5029200" cy="320040"/>
          </a:xfrm>
          <a:prstGeom prst="rect">
            <a:avLst/>
          </a:prstGeom>
          <a:noFill/>
          <a:ln/>
        </p:spPr>
        <p:txBody>
          <a:bodyPr wrap="square" rtlCol="0" anchor="ctr"/>
          <a:lstStyle/>
          <a:p>
            <a:pPr indent="0" marL="0">
              <a:buNone/>
            </a:pPr>
            <a:r>
              <a:rPr lang="en-US" sz="1250" b="1" dirty="0">
                <a:solidFill>
                  <a:srgbClr val="3E5C9A"/>
                </a:solidFill>
                <a:latin typeface="Cambria" pitchFamily="34" charset="0"/>
                <a:ea typeface="Cambria" pitchFamily="34" charset="-122"/>
                <a:cs typeface="Cambria" pitchFamily="34" charset="-120"/>
              </a:rPr>
              <a:t>Relevanță ITSM/AIOps</a:t>
            </a:r>
            <a:endParaRPr lang="en-US" sz="1250" dirty="0"/>
          </a:p>
        </p:txBody>
      </p:sp>
      <p:sp>
        <p:nvSpPr>
          <p:cNvPr id="15" name="Text 13"/>
          <p:cNvSpPr/>
          <p:nvPr/>
        </p:nvSpPr>
        <p:spPr>
          <a:xfrm>
            <a:off x="777240" y="5257800"/>
            <a:ext cx="5029200" cy="411480"/>
          </a:xfrm>
          <a:prstGeom prst="rect">
            <a:avLst/>
          </a:prstGeom>
          <a:noFill/>
          <a:ln/>
        </p:spPr>
        <p:txBody>
          <a:bodyPr wrap="square" rtlCol="0" anchor="t"/>
          <a:lstStyle/>
          <a:p>
            <a:pPr indent="0" marL="0">
              <a:buNone/>
            </a:pPr>
            <a:r>
              <a:rPr lang="en-US" sz="1050" dirty="0">
                <a:solidFill>
                  <a:srgbClr val="24262E"/>
                </a:solidFill>
                <a:latin typeface="Calibri" pitchFamily="34" charset="0"/>
                <a:ea typeface="Calibri" pitchFamily="34" charset="-122"/>
                <a:cs typeface="Calibri" pitchFamily="34" charset="-120"/>
              </a:rPr>
              <a:t>triaj mai bun reduce eroarea propagată în restul lanțului</a:t>
            </a:r>
            <a:endParaRPr lang="en-US" sz="1050" dirty="0"/>
          </a:p>
        </p:txBody>
      </p:sp>
      <p:sp>
        <p:nvSpPr>
          <p:cNvPr id="16" name="Shape 14"/>
          <p:cNvSpPr/>
          <p:nvPr/>
        </p:nvSpPr>
        <p:spPr>
          <a:xfrm>
            <a:off x="6355080" y="1417320"/>
            <a:ext cx="5303520" cy="4434840"/>
          </a:xfrm>
          <a:prstGeom prst="roundRect">
            <a:avLst>
              <a:gd name="adj" fmla="val 1649"/>
            </a:avLst>
          </a:prstGeom>
          <a:solidFill>
            <a:srgbClr val="1E2761"/>
          </a:solidFill>
          <a:ln/>
        </p:spPr>
      </p:sp>
      <p:sp>
        <p:nvSpPr>
          <p:cNvPr id="17" name="Text 15"/>
          <p:cNvSpPr/>
          <p:nvPr/>
        </p:nvSpPr>
        <p:spPr>
          <a:xfrm>
            <a:off x="6675120" y="1645920"/>
            <a:ext cx="4663440" cy="54864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Praguri de decizie (HITL) — fixate explicit</a:t>
            </a:r>
            <a:endParaRPr lang="en-US" sz="1500" dirty="0"/>
          </a:p>
        </p:txBody>
      </p:sp>
      <p:sp>
        <p:nvSpPr>
          <p:cNvPr id="18" name="Shape 16"/>
          <p:cNvSpPr/>
          <p:nvPr/>
        </p:nvSpPr>
        <p:spPr>
          <a:xfrm>
            <a:off x="6675120" y="2331720"/>
            <a:ext cx="4663440" cy="822960"/>
          </a:xfrm>
          <a:prstGeom prst="roundRect">
            <a:avLst>
              <a:gd name="adj" fmla="val 5556"/>
            </a:avLst>
          </a:prstGeom>
          <a:solidFill>
            <a:srgbClr val="273572"/>
          </a:solidFill>
          <a:ln/>
        </p:spPr>
      </p:sp>
      <p:sp>
        <p:nvSpPr>
          <p:cNvPr id="19" name="Text 17"/>
          <p:cNvSpPr/>
          <p:nvPr/>
        </p:nvSpPr>
        <p:spPr>
          <a:xfrm>
            <a:off x="6858000" y="2404872"/>
            <a:ext cx="1920240" cy="685800"/>
          </a:xfrm>
          <a:prstGeom prst="rect">
            <a:avLst/>
          </a:prstGeom>
          <a:noFill/>
          <a:ln/>
        </p:spPr>
        <p:txBody>
          <a:bodyPr wrap="square" rtlCol="0" anchor="ctr"/>
          <a:lstStyle/>
          <a:p>
            <a:pPr indent="0" marL="0">
              <a:buNone/>
            </a:pPr>
            <a:r>
              <a:rPr lang="en-US" sz="1100" b="1" dirty="0">
                <a:solidFill>
                  <a:srgbClr val="CADCFC"/>
                </a:solidFill>
                <a:latin typeface="Cambria" pitchFamily="34" charset="0"/>
                <a:ea typeface="Cambria" pitchFamily="34" charset="-122"/>
                <a:cs typeface="Cambria" pitchFamily="34" charset="-120"/>
              </a:rPr>
              <a:t>priority = P1</a:t>
            </a:r>
            <a:endParaRPr lang="en-US" sz="1100" dirty="0"/>
          </a:p>
        </p:txBody>
      </p:sp>
      <p:sp>
        <p:nvSpPr>
          <p:cNvPr id="20" name="Text 18"/>
          <p:cNvSpPr/>
          <p:nvPr/>
        </p:nvSpPr>
        <p:spPr>
          <a:xfrm>
            <a:off x="8823960" y="2404872"/>
            <a:ext cx="141732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aprobare umană întotdeauna</a:t>
            </a:r>
            <a:endParaRPr lang="en-US" sz="1000" dirty="0"/>
          </a:p>
        </p:txBody>
      </p:sp>
      <p:sp>
        <p:nvSpPr>
          <p:cNvPr id="21" name="Text 19"/>
          <p:cNvSpPr/>
          <p:nvPr/>
        </p:nvSpPr>
        <p:spPr>
          <a:xfrm>
            <a:off x="8823960" y="2715768"/>
            <a:ext cx="2331720" cy="384048"/>
          </a:xfrm>
          <a:prstGeom prst="rect">
            <a:avLst/>
          </a:prstGeom>
          <a:noFill/>
          <a:ln/>
        </p:spPr>
        <p:txBody>
          <a:bodyPr wrap="square" rtlCol="0" anchor="t"/>
          <a:lstStyle/>
          <a:p>
            <a:pPr indent="0" marL="0">
              <a:buNone/>
            </a:pPr>
            <a:r>
              <a:rPr lang="en-US" sz="850" i="1" dirty="0">
                <a:solidFill>
                  <a:srgbClr val="AEB8DC"/>
                </a:solidFill>
                <a:latin typeface="Calibri" pitchFamily="34" charset="0"/>
                <a:ea typeface="Calibri" pitchFamily="34" charset="-122"/>
                <a:cs typeface="Calibri" pitchFamily="34" charset="-120"/>
              </a:rPr>
              <a:t>impact major, cost al greșelii foarte mare</a:t>
            </a:r>
            <a:endParaRPr lang="en-US" sz="850" dirty="0"/>
          </a:p>
        </p:txBody>
      </p:sp>
      <p:sp>
        <p:nvSpPr>
          <p:cNvPr id="22" name="Shape 20"/>
          <p:cNvSpPr/>
          <p:nvPr/>
        </p:nvSpPr>
        <p:spPr>
          <a:xfrm>
            <a:off x="6675120" y="3246120"/>
            <a:ext cx="4663440" cy="822960"/>
          </a:xfrm>
          <a:prstGeom prst="roundRect">
            <a:avLst>
              <a:gd name="adj" fmla="val 5556"/>
            </a:avLst>
          </a:prstGeom>
          <a:solidFill>
            <a:srgbClr val="273572"/>
          </a:solidFill>
          <a:ln/>
        </p:spPr>
      </p:sp>
      <p:sp>
        <p:nvSpPr>
          <p:cNvPr id="23" name="Text 21"/>
          <p:cNvSpPr/>
          <p:nvPr/>
        </p:nvSpPr>
        <p:spPr>
          <a:xfrm>
            <a:off x="6858000" y="3319272"/>
            <a:ext cx="1920240" cy="685800"/>
          </a:xfrm>
          <a:prstGeom prst="rect">
            <a:avLst/>
          </a:prstGeom>
          <a:noFill/>
          <a:ln/>
        </p:spPr>
        <p:txBody>
          <a:bodyPr wrap="square" rtlCol="0" anchor="ctr"/>
          <a:lstStyle/>
          <a:p>
            <a:pPr indent="0" marL="0">
              <a:buNone/>
            </a:pPr>
            <a:r>
              <a:rPr lang="en-US" sz="1100" b="1" dirty="0">
                <a:solidFill>
                  <a:srgbClr val="CADCFC"/>
                </a:solidFill>
                <a:latin typeface="Cambria" pitchFamily="34" charset="0"/>
                <a:ea typeface="Cambria" pitchFamily="34" charset="-122"/>
                <a:cs typeface="Cambria" pitchFamily="34" charset="-120"/>
              </a:rPr>
              <a:t>confidence &lt; 0.70</a:t>
            </a:r>
            <a:endParaRPr lang="en-US" sz="1100" dirty="0"/>
          </a:p>
        </p:txBody>
      </p:sp>
      <p:sp>
        <p:nvSpPr>
          <p:cNvPr id="24" name="Text 22"/>
          <p:cNvSpPr/>
          <p:nvPr/>
        </p:nvSpPr>
        <p:spPr>
          <a:xfrm>
            <a:off x="8823960" y="3319272"/>
            <a:ext cx="141732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aprobare umană</a:t>
            </a:r>
            <a:endParaRPr lang="en-US" sz="1000" dirty="0"/>
          </a:p>
        </p:txBody>
      </p:sp>
      <p:sp>
        <p:nvSpPr>
          <p:cNvPr id="25" name="Text 23"/>
          <p:cNvSpPr/>
          <p:nvPr/>
        </p:nvSpPr>
        <p:spPr>
          <a:xfrm>
            <a:off x="8823960" y="3630168"/>
            <a:ext cx="2331720" cy="384048"/>
          </a:xfrm>
          <a:prstGeom prst="rect">
            <a:avLst/>
          </a:prstGeom>
          <a:noFill/>
          <a:ln/>
        </p:spPr>
        <p:txBody>
          <a:bodyPr wrap="square" rtlCol="0" anchor="t"/>
          <a:lstStyle/>
          <a:p>
            <a:pPr indent="0" marL="0">
              <a:buNone/>
            </a:pPr>
            <a:r>
              <a:rPr lang="en-US" sz="850" i="1" dirty="0">
                <a:solidFill>
                  <a:srgbClr val="AEB8DC"/>
                </a:solidFill>
                <a:latin typeface="Calibri" pitchFamily="34" charset="0"/>
                <a:ea typeface="Calibri" pitchFamily="34" charset="-122"/>
                <a:cs typeface="Calibri" pitchFamily="34" charset="-120"/>
              </a:rPr>
              <a:t>eroare empirică crește sub prag (calibrat pe setul de validare)</a:t>
            </a:r>
            <a:endParaRPr lang="en-US" sz="850" dirty="0"/>
          </a:p>
        </p:txBody>
      </p:sp>
      <p:sp>
        <p:nvSpPr>
          <p:cNvPr id="26" name="Shape 24"/>
          <p:cNvSpPr/>
          <p:nvPr/>
        </p:nvSpPr>
        <p:spPr>
          <a:xfrm>
            <a:off x="6675120" y="4160520"/>
            <a:ext cx="4663440" cy="822960"/>
          </a:xfrm>
          <a:prstGeom prst="roundRect">
            <a:avLst>
              <a:gd name="adj" fmla="val 5556"/>
            </a:avLst>
          </a:prstGeom>
          <a:solidFill>
            <a:srgbClr val="273572"/>
          </a:solidFill>
          <a:ln/>
        </p:spPr>
      </p:sp>
      <p:sp>
        <p:nvSpPr>
          <p:cNvPr id="27" name="Text 25"/>
          <p:cNvSpPr/>
          <p:nvPr/>
        </p:nvSpPr>
        <p:spPr>
          <a:xfrm>
            <a:off x="6858000" y="4233672"/>
            <a:ext cx="1920240" cy="685800"/>
          </a:xfrm>
          <a:prstGeom prst="rect">
            <a:avLst/>
          </a:prstGeom>
          <a:noFill/>
          <a:ln/>
        </p:spPr>
        <p:txBody>
          <a:bodyPr wrap="square" rtlCol="0" anchor="ctr"/>
          <a:lstStyle/>
          <a:p>
            <a:pPr indent="0" marL="0">
              <a:buNone/>
            </a:pPr>
            <a:r>
              <a:rPr lang="en-US" sz="1100" b="1" dirty="0">
                <a:solidFill>
                  <a:srgbClr val="CADCFC"/>
                </a:solidFill>
                <a:latin typeface="Cambria" pitchFamily="34" charset="0"/>
                <a:ea typeface="Cambria" pitchFamily="34" charset="-122"/>
                <a:cs typeface="Cambria" pitchFamily="34" charset="-120"/>
              </a:rPr>
              <a:t>echipă necunoscută</a:t>
            </a:r>
            <a:endParaRPr lang="en-US" sz="1100" dirty="0"/>
          </a:p>
        </p:txBody>
      </p:sp>
      <p:sp>
        <p:nvSpPr>
          <p:cNvPr id="28" name="Text 26"/>
          <p:cNvSpPr/>
          <p:nvPr/>
        </p:nvSpPr>
        <p:spPr>
          <a:xfrm>
            <a:off x="8823960" y="4233672"/>
            <a:ext cx="141732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aprobare umană</a:t>
            </a:r>
            <a:endParaRPr lang="en-US" sz="1000" dirty="0"/>
          </a:p>
        </p:txBody>
      </p:sp>
      <p:sp>
        <p:nvSpPr>
          <p:cNvPr id="29" name="Text 27"/>
          <p:cNvSpPr/>
          <p:nvPr/>
        </p:nvSpPr>
        <p:spPr>
          <a:xfrm>
            <a:off x="8823960" y="4544568"/>
            <a:ext cx="2331720" cy="384048"/>
          </a:xfrm>
          <a:prstGeom prst="rect">
            <a:avLst/>
          </a:prstGeom>
          <a:noFill/>
          <a:ln/>
        </p:spPr>
        <p:txBody>
          <a:bodyPr wrap="square" rtlCol="0" anchor="t"/>
          <a:lstStyle/>
          <a:p>
            <a:pPr indent="0" marL="0">
              <a:buNone/>
            </a:pPr>
            <a:r>
              <a:rPr lang="en-US" sz="850" i="1" dirty="0">
                <a:solidFill>
                  <a:srgbClr val="AEB8DC"/>
                </a:solidFill>
                <a:latin typeface="Calibri" pitchFamily="34" charset="0"/>
                <a:ea typeface="Calibri" pitchFamily="34" charset="-122"/>
                <a:cs typeface="Calibri" pitchFamily="34" charset="-120"/>
              </a:rPr>
              <a:t>risc de rutare complet greșită</a:t>
            </a:r>
            <a:endParaRPr lang="en-US" sz="850" dirty="0"/>
          </a:p>
        </p:txBody>
      </p:sp>
      <p:sp>
        <p:nvSpPr>
          <p:cNvPr id="30" name="Shape 28"/>
          <p:cNvSpPr/>
          <p:nvPr/>
        </p:nvSpPr>
        <p:spPr>
          <a:xfrm>
            <a:off x="6675120" y="5074920"/>
            <a:ext cx="4663440" cy="822960"/>
          </a:xfrm>
          <a:prstGeom prst="roundRect">
            <a:avLst>
              <a:gd name="adj" fmla="val 5556"/>
            </a:avLst>
          </a:prstGeom>
          <a:solidFill>
            <a:srgbClr val="273572"/>
          </a:solidFill>
          <a:ln/>
        </p:spPr>
      </p:sp>
      <p:sp>
        <p:nvSpPr>
          <p:cNvPr id="31" name="Text 29"/>
          <p:cNvSpPr/>
          <p:nvPr/>
        </p:nvSpPr>
        <p:spPr>
          <a:xfrm>
            <a:off x="6858000" y="5148072"/>
            <a:ext cx="1920240" cy="685800"/>
          </a:xfrm>
          <a:prstGeom prst="rect">
            <a:avLst/>
          </a:prstGeom>
          <a:noFill/>
          <a:ln/>
        </p:spPr>
        <p:txBody>
          <a:bodyPr wrap="square" rtlCol="0" anchor="ctr"/>
          <a:lstStyle/>
          <a:p>
            <a:pPr indent="0" marL="0">
              <a:buNone/>
            </a:pPr>
            <a:r>
              <a:rPr lang="en-US" sz="1100" b="1" dirty="0">
                <a:solidFill>
                  <a:srgbClr val="CADCFC"/>
                </a:solidFill>
                <a:latin typeface="Cambria" pitchFamily="34" charset="0"/>
                <a:ea typeface="Cambria" pitchFamily="34" charset="-122"/>
                <a:cs typeface="Cambria" pitchFamily="34" charset="-120"/>
              </a:rPr>
              <a:t>altfel</a:t>
            </a:r>
            <a:endParaRPr lang="en-US" sz="1100" dirty="0"/>
          </a:p>
        </p:txBody>
      </p:sp>
      <p:sp>
        <p:nvSpPr>
          <p:cNvPr id="32" name="Text 30"/>
          <p:cNvSpPr/>
          <p:nvPr/>
        </p:nvSpPr>
        <p:spPr>
          <a:xfrm>
            <a:off x="8823960" y="5148072"/>
            <a:ext cx="141732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auto-rutare</a:t>
            </a:r>
            <a:endParaRPr lang="en-US" sz="1000" dirty="0"/>
          </a:p>
        </p:txBody>
      </p:sp>
      <p:sp>
        <p:nvSpPr>
          <p:cNvPr id="33" name="Text 31"/>
          <p:cNvSpPr/>
          <p:nvPr/>
        </p:nvSpPr>
        <p:spPr>
          <a:xfrm>
            <a:off x="8823960" y="5458968"/>
            <a:ext cx="2331720" cy="384048"/>
          </a:xfrm>
          <a:prstGeom prst="rect">
            <a:avLst/>
          </a:prstGeom>
          <a:noFill/>
          <a:ln/>
        </p:spPr>
        <p:txBody>
          <a:bodyPr wrap="square" rtlCol="0" anchor="t"/>
          <a:lstStyle/>
          <a:p>
            <a:pPr indent="0" marL="0">
              <a:buNone/>
            </a:pPr>
            <a:r>
              <a:rPr lang="en-US" sz="850" i="1" dirty="0">
                <a:solidFill>
                  <a:srgbClr val="AEB8DC"/>
                </a:solidFill>
                <a:latin typeface="Calibri" pitchFamily="34" charset="0"/>
                <a:ea typeface="Calibri" pitchFamily="34" charset="-122"/>
                <a:cs typeface="Calibri" pitchFamily="34" charset="-120"/>
              </a:rPr>
              <a:t>risc scăzut, ușor reversibil</a:t>
            </a:r>
            <a:endParaRPr lang="en-US" sz="850" dirty="0"/>
          </a:p>
        </p:txBody>
      </p:sp>
      <p:sp>
        <p:nvSpPr>
          <p:cNvPr id="34" name="Text 32"/>
          <p:cNvSpPr/>
          <p:nvPr/>
        </p:nvSpPr>
        <p:spPr>
          <a:xfrm>
            <a:off x="11521440" y="6446520"/>
            <a:ext cx="457200" cy="320040"/>
          </a:xfrm>
          <a:prstGeom prst="rect">
            <a:avLst/>
          </a:prstGeom>
          <a:noFill/>
          <a:ln/>
        </p:spPr>
        <p:txBody>
          <a:bodyPr wrap="square" rtlCol="0" anchor="ctr"/>
          <a:lstStyle/>
          <a:p>
            <a:pPr algn="r" indent="0" marL="0">
              <a:buNone/>
            </a:pPr>
            <a:r>
              <a:rPr lang="en-US" sz="1000" dirty="0">
                <a:solidFill>
                  <a:srgbClr val="6B70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2560320"/>
            <a:ext cx="9601200" cy="914400"/>
          </a:xfrm>
          <a:prstGeom prst="rect">
            <a:avLst/>
          </a:prstGeom>
          <a:noFill/>
          <a:ln/>
        </p:spPr>
        <p:txBody>
          <a:bodyPr wrap="square" rtlCol="0" anchor="ctr"/>
          <a:lstStyle/>
          <a:p>
            <a:pPr indent="0" marL="0">
              <a:buNone/>
            </a:pPr>
            <a:r>
              <a:rPr lang="en-US" sz="3400" b="1" dirty="0">
                <a:solidFill>
                  <a:srgbClr val="24262E"/>
                </a:solidFill>
                <a:latin typeface="Cambria" pitchFamily="34" charset="0"/>
                <a:ea typeface="Cambria" pitchFamily="34" charset="-122"/>
                <a:cs typeface="Cambria" pitchFamily="34" charset="-120"/>
              </a:rPr>
              <a:t>Vă mulțumesc pentru atenție!</a:t>
            </a:r>
            <a:endParaRPr lang="en-US" sz="3400" dirty="0"/>
          </a:p>
        </p:txBody>
      </p:sp>
      <p:sp>
        <p:nvSpPr>
          <p:cNvPr id="3" name="Shape 1"/>
          <p:cNvSpPr/>
          <p:nvPr/>
        </p:nvSpPr>
        <p:spPr>
          <a:xfrm>
            <a:off x="822960" y="3429000"/>
            <a:ext cx="3200400" cy="0"/>
          </a:xfrm>
          <a:prstGeom prst="line">
            <a:avLst/>
          </a:prstGeom>
          <a:noFill/>
          <a:ln w="12700">
            <a:solidFill>
              <a:srgbClr val="D9DEEB"/>
            </a:solidFill>
            <a:prstDash val="solid"/>
          </a:ln>
        </p:spPr>
      </p:sp>
      <p:sp>
        <p:nvSpPr>
          <p:cNvPr id="4" name="Text 2"/>
          <p:cNvSpPr/>
          <p:nvPr/>
        </p:nvSpPr>
        <p:spPr>
          <a:xfrm>
            <a:off x="822960" y="3749040"/>
            <a:ext cx="9601200" cy="914400"/>
          </a:xfrm>
          <a:prstGeom prst="rect">
            <a:avLst/>
          </a:prstGeom>
          <a:noFill/>
          <a:ln/>
        </p:spPr>
        <p:txBody>
          <a:bodyPr wrap="square" rtlCol="0" anchor="t"/>
          <a:lstStyle/>
          <a:p>
            <a:pPr indent="0" marL="0">
              <a:spcAft>
                <a:spcPts val="600"/>
              </a:spcAft>
              <a:buNone/>
            </a:pPr>
            <a:r>
              <a:rPr lang="en-US" sz="1400" b="1" dirty="0">
                <a:solidFill>
                  <a:srgbClr val="24262E"/>
                </a:solidFill>
                <a:latin typeface="Calibri" pitchFamily="34" charset="0"/>
                <a:ea typeface="Calibri" pitchFamily="34" charset="-122"/>
                <a:cs typeface="Calibri" pitchFamily="34" charset="-120"/>
              </a:rPr>
              <a:t>Arhitectură completă și diagrame: </a:t>
            </a:r>
            <a:pPr indent="0" marL="0">
              <a:spcAft>
                <a:spcPts val="600"/>
              </a:spcAft>
              <a:buNone/>
            </a:pPr>
            <a:r>
              <a:rPr lang="en-US" sz="1400" dirty="0">
                <a:solidFill>
                  <a:srgbClr val="6B7080"/>
                </a:solidFill>
                <a:latin typeface="Calibri" pitchFamily="34" charset="0"/>
                <a:ea typeface="Calibri" pitchFamily="34" charset="-122"/>
                <a:cs typeface="Calibri" pitchFamily="34" charset="-120"/>
              </a:rPr>
              <a:t>docs/architecture.md
</a:t>
            </a:r>
            <a:pPr indent="0" marL="0">
              <a:spcAft>
                <a:spcPts val="600"/>
              </a:spcAft>
              <a:buNone/>
            </a:pPr>
            <a:r>
              <a:rPr lang="en-US" sz="1400" b="1" dirty="0">
                <a:solidFill>
                  <a:srgbClr val="24262E"/>
                </a:solidFill>
                <a:latin typeface="Calibri" pitchFamily="34" charset="0"/>
                <a:ea typeface="Calibri" pitchFamily="34" charset="-122"/>
                <a:cs typeface="Calibri" pitchFamily="34" charset="-120"/>
              </a:rPr>
              <a:t>Schema de date și strategie RAG: </a:t>
            </a:r>
            <a:pPr indent="0" marL="0">
              <a:spcAft>
                <a:spcPts val="600"/>
              </a:spcAft>
              <a:buNone/>
            </a:pPr>
            <a:r>
              <a:rPr lang="en-US" sz="1400" dirty="0">
                <a:solidFill>
                  <a:srgbClr val="6B7080"/>
                </a:solidFill>
                <a:latin typeface="Calibri" pitchFamily="34" charset="0"/>
                <a:ea typeface="Calibri" pitchFamily="34" charset="-122"/>
                <a:cs typeface="Calibri" pitchFamily="34" charset="-120"/>
              </a:rPr>
              <a:t>docs/data-design.md</a:t>
            </a:r>
            <a:endParaRPr lang="en-US" sz="1400" dirty="0"/>
          </a:p>
        </p:txBody>
      </p:sp>
      <p:sp>
        <p:nvSpPr>
          <p:cNvPr id="5" name="Text 3"/>
          <p:cNvSpPr/>
          <p:nvPr/>
        </p:nvSpPr>
        <p:spPr>
          <a:xfrm>
            <a:off x="11521440" y="6446520"/>
            <a:ext cx="457200" cy="320040"/>
          </a:xfrm>
          <a:prstGeom prst="rect">
            <a:avLst/>
          </a:prstGeom>
          <a:noFill/>
          <a:ln/>
        </p:spPr>
        <p:txBody>
          <a:bodyPr wrap="square" rtlCol="0" anchor="ctr"/>
          <a:lstStyle/>
          <a:p>
            <a:pPr algn="r" indent="0" marL="0">
              <a:buNone/>
            </a:pPr>
            <a:r>
              <a:rPr lang="en-US" sz="1000" dirty="0">
                <a:solidFill>
                  <a:srgbClr val="6B70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2026-08-20T15:04:46Z</dcterms:created>
  <dcterms:modified xsi:type="dcterms:W3CDTF">2026-08-20T15:04:46Z</dcterms:modified>
</cp:coreProperties>
</file>